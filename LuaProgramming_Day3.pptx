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16"/>
  </p:notesMasterIdLst>
  <p:handoutMasterIdLst>
    <p:handoutMasterId r:id="rId117"/>
  </p:handoutMasterIdLst>
  <p:sldIdLst>
    <p:sldId id="541" r:id="rId5"/>
    <p:sldId id="543" r:id="rId6"/>
    <p:sldId id="549" r:id="rId7"/>
    <p:sldId id="550" r:id="rId8"/>
    <p:sldId id="551" r:id="rId9"/>
    <p:sldId id="552" r:id="rId10"/>
    <p:sldId id="553" r:id="rId11"/>
    <p:sldId id="544" r:id="rId12"/>
    <p:sldId id="546" r:id="rId13"/>
    <p:sldId id="545" r:id="rId14"/>
    <p:sldId id="547" r:id="rId15"/>
    <p:sldId id="548" r:id="rId16"/>
    <p:sldId id="556" r:id="rId17"/>
    <p:sldId id="555" r:id="rId18"/>
    <p:sldId id="557" r:id="rId19"/>
    <p:sldId id="558" r:id="rId20"/>
    <p:sldId id="559" r:id="rId21"/>
    <p:sldId id="560" r:id="rId22"/>
    <p:sldId id="561" r:id="rId23"/>
    <p:sldId id="562" r:id="rId24"/>
    <p:sldId id="563" r:id="rId25"/>
    <p:sldId id="564" r:id="rId26"/>
    <p:sldId id="565" r:id="rId27"/>
    <p:sldId id="566" r:id="rId28"/>
    <p:sldId id="567" r:id="rId29"/>
    <p:sldId id="568" r:id="rId30"/>
    <p:sldId id="569" r:id="rId31"/>
    <p:sldId id="570" r:id="rId32"/>
    <p:sldId id="571" r:id="rId33"/>
    <p:sldId id="572" r:id="rId34"/>
    <p:sldId id="573" r:id="rId35"/>
    <p:sldId id="574" r:id="rId36"/>
    <p:sldId id="575" r:id="rId37"/>
    <p:sldId id="576" r:id="rId38"/>
    <p:sldId id="577" r:id="rId39"/>
    <p:sldId id="578" r:id="rId40"/>
    <p:sldId id="579" r:id="rId41"/>
    <p:sldId id="580" r:id="rId42"/>
    <p:sldId id="584" r:id="rId43"/>
    <p:sldId id="585" r:id="rId44"/>
    <p:sldId id="581" r:id="rId45"/>
    <p:sldId id="582" r:id="rId46"/>
    <p:sldId id="583" r:id="rId47"/>
    <p:sldId id="586" r:id="rId48"/>
    <p:sldId id="587" r:id="rId49"/>
    <p:sldId id="588" r:id="rId50"/>
    <p:sldId id="589" r:id="rId51"/>
    <p:sldId id="590" r:id="rId52"/>
    <p:sldId id="591" r:id="rId53"/>
    <p:sldId id="595" r:id="rId54"/>
    <p:sldId id="594" r:id="rId55"/>
    <p:sldId id="593" r:id="rId56"/>
    <p:sldId id="596" r:id="rId57"/>
    <p:sldId id="597" r:id="rId58"/>
    <p:sldId id="598" r:id="rId59"/>
    <p:sldId id="599" r:id="rId60"/>
    <p:sldId id="600" r:id="rId61"/>
    <p:sldId id="601" r:id="rId62"/>
    <p:sldId id="602" r:id="rId63"/>
    <p:sldId id="603" r:id="rId64"/>
    <p:sldId id="604" r:id="rId65"/>
    <p:sldId id="605" r:id="rId66"/>
    <p:sldId id="606" r:id="rId67"/>
    <p:sldId id="607" r:id="rId68"/>
    <p:sldId id="608" r:id="rId69"/>
    <p:sldId id="609" r:id="rId70"/>
    <p:sldId id="610" r:id="rId71"/>
    <p:sldId id="611" r:id="rId72"/>
    <p:sldId id="612" r:id="rId73"/>
    <p:sldId id="613" r:id="rId74"/>
    <p:sldId id="614" r:id="rId75"/>
    <p:sldId id="615" r:id="rId76"/>
    <p:sldId id="616" r:id="rId77"/>
    <p:sldId id="617" r:id="rId78"/>
    <p:sldId id="618" r:id="rId79"/>
    <p:sldId id="619" r:id="rId80"/>
    <p:sldId id="620" r:id="rId81"/>
    <p:sldId id="621" r:id="rId82"/>
    <p:sldId id="622" r:id="rId83"/>
    <p:sldId id="623" r:id="rId84"/>
    <p:sldId id="624" r:id="rId85"/>
    <p:sldId id="625" r:id="rId86"/>
    <p:sldId id="626" r:id="rId87"/>
    <p:sldId id="627" r:id="rId88"/>
    <p:sldId id="628" r:id="rId89"/>
    <p:sldId id="629" r:id="rId90"/>
    <p:sldId id="630" r:id="rId91"/>
    <p:sldId id="631" r:id="rId92"/>
    <p:sldId id="632" r:id="rId93"/>
    <p:sldId id="633" r:id="rId94"/>
    <p:sldId id="634" r:id="rId95"/>
    <p:sldId id="635" r:id="rId96"/>
    <p:sldId id="636" r:id="rId97"/>
    <p:sldId id="637" r:id="rId98"/>
    <p:sldId id="638" r:id="rId99"/>
    <p:sldId id="639" r:id="rId100"/>
    <p:sldId id="640" r:id="rId101"/>
    <p:sldId id="641" r:id="rId102"/>
    <p:sldId id="642" r:id="rId103"/>
    <p:sldId id="643" r:id="rId104"/>
    <p:sldId id="645" r:id="rId105"/>
    <p:sldId id="644" r:id="rId106"/>
    <p:sldId id="646" r:id="rId107"/>
    <p:sldId id="647" r:id="rId108"/>
    <p:sldId id="648" r:id="rId109"/>
    <p:sldId id="649" r:id="rId110"/>
    <p:sldId id="650" r:id="rId111"/>
    <p:sldId id="651" r:id="rId112"/>
    <p:sldId id="652" r:id="rId113"/>
    <p:sldId id="339" r:id="rId114"/>
    <p:sldId id="364" r:id="rId115"/>
  </p:sldIdLst>
  <p:sldSz cx="9144000" cy="6858000" type="screen4x3"/>
  <p:notesSz cx="6858000" cy="9144000"/>
  <p:custDataLst>
    <p:tags r:id="rId1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">
          <p15:clr>
            <a:srgbClr val="A4A3A4"/>
          </p15:clr>
        </p15:guide>
        <p15:guide id="2" orient="horz" pos="4043">
          <p15:clr>
            <a:srgbClr val="A4A3A4"/>
          </p15:clr>
        </p15:guide>
        <p15:guide id="3" orient="horz" pos="2387">
          <p15:clr>
            <a:srgbClr val="A4A3A4"/>
          </p15:clr>
        </p15:guide>
        <p15:guide id="4" orient="horz" pos="4233">
          <p15:clr>
            <a:srgbClr val="A4A3A4"/>
          </p15:clr>
        </p15:guide>
        <p15:guide id="5" orient="horz" pos="924">
          <p15:clr>
            <a:srgbClr val="A4A3A4"/>
          </p15:clr>
        </p15:guide>
        <p15:guide id="6" orient="horz" pos="736">
          <p15:clr>
            <a:srgbClr val="A4A3A4"/>
          </p15:clr>
        </p15:guide>
        <p15:guide id="7" orient="horz" pos="2882">
          <p15:clr>
            <a:srgbClr val="A4A3A4"/>
          </p15:clr>
        </p15:guide>
        <p15:guide id="8" orient="horz" pos="560">
          <p15:clr>
            <a:srgbClr val="A4A3A4"/>
          </p15:clr>
        </p15:guide>
        <p15:guide id="9" pos="2880">
          <p15:clr>
            <a:srgbClr val="A4A3A4"/>
          </p15:clr>
        </p15:guide>
        <p15:guide id="10" pos="280">
          <p15:clr>
            <a:srgbClr val="A4A3A4"/>
          </p15:clr>
        </p15:guide>
        <p15:guide id="11" pos="5501">
          <p15:clr>
            <a:srgbClr val="A4A3A4"/>
          </p15:clr>
        </p15:guide>
        <p15:guide id="12" pos="2824">
          <p15:clr>
            <a:srgbClr val="A4A3A4"/>
          </p15:clr>
        </p15:guide>
        <p15:guide id="13" pos="2936">
          <p15:clr>
            <a:srgbClr val="A4A3A4"/>
          </p15:clr>
        </p15:guide>
        <p15:guide id="14" pos="4172">
          <p15:clr>
            <a:srgbClr val="A4A3A4"/>
          </p15:clr>
        </p15:guide>
        <p15:guide id="15" pos="158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dyJ" initials="JB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CAED"/>
    <a:srgbClr val="000000"/>
    <a:srgbClr val="992222"/>
    <a:srgbClr val="00BBEE"/>
    <a:srgbClr val="7F7F7F"/>
    <a:srgbClr val="666666"/>
    <a:srgbClr val="FF0000"/>
    <a:srgbClr val="C85FC8"/>
    <a:srgbClr val="722772"/>
    <a:srgbClr val="869E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78333" autoAdjust="0"/>
  </p:normalViewPr>
  <p:slideViewPr>
    <p:cSldViewPr snapToObjects="1" showGuides="1">
      <p:cViewPr varScale="1">
        <p:scale>
          <a:sx n="66" d="100"/>
          <a:sy n="66" d="100"/>
        </p:scale>
        <p:origin x="1304" y="272"/>
      </p:cViewPr>
      <p:guideLst>
        <p:guide orient="horz" pos="5"/>
        <p:guide orient="horz" pos="4043"/>
        <p:guide orient="horz" pos="2387"/>
        <p:guide orient="horz" pos="4233"/>
        <p:guide orient="horz" pos="924"/>
        <p:guide orient="horz" pos="736"/>
        <p:guide orient="horz" pos="2882"/>
        <p:guide orient="horz" pos="560"/>
        <p:guide pos="2880"/>
        <p:guide pos="280"/>
        <p:guide pos="5501"/>
        <p:guide pos="2824"/>
        <p:guide pos="2936"/>
        <p:guide pos="4172"/>
        <p:guide pos="158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763"/>
    </p:cViewPr>
  </p:sorterViewPr>
  <p:notesViewPr>
    <p:cSldViewPr snapToObjects="1" showGuides="1">
      <p:cViewPr varScale="1">
        <p:scale>
          <a:sx n="67" d="100"/>
          <a:sy n="67" d="100"/>
        </p:scale>
        <p:origin x="-279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tableStyles" Target="tableStyles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tags" Target="tags/tag1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commentAuthors" Target="commentAuthors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viewProps" Target="viewProps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FA3CA-5725-4BA7-A851-72A62AC5A8EE}" type="datetimeFigureOut">
              <a:rPr lang="en-CA" smtClean="0"/>
              <a:pPr/>
              <a:t>2025-06-29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873CA4-7EF9-467F-99BD-6DDCB9451CF6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5470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7T00:57:20.56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321 55 24575,'11'1'0,"0"-2"0,0 1 0,0-1 0,0-1 0,0 0 0,0 0 0,15-6 0,-5 0 0,-1 1 0,1 1 0,0 1 0,27-3 0,-4 4 0,48 2 0,-86 2 0,20 0 0,0 1 0,0 2 0,27 5 0,-46-7 0,0 1 0,0 0 0,0 1 0,0 0 0,0 0 0,0 0 0,-1 1 0,1 0 0,-1 0 0,0 1 0,-1 0 0,1 0 0,-1 0 0,0 1 0,6 8 0,2 7 0,-2 0 0,0 1 0,-1 1 0,-2 0 0,0 0 0,-1 1 0,-2 0 0,0 0 0,-2 0 0,0 1 0,-2-1 0,-2 34 0,-1-43 0,0 1 0,-1-1 0,0 0 0,-2 0 0,0-1 0,0 1 0,-14 23 0,-5 4 0,-35 44 0,4-7 0,17-20 0,-36 79 0,63-115 0,1 1 0,2 0 0,0 1 0,2 0 0,0 0 0,-3 49 0,9-66 0,1 0 0,0-1 0,0 1 0,1 0 0,0 0 0,0-1 0,1 1 0,-1-1 0,2 0 0,-1 0 0,1 0 0,0 0 0,1 0 0,0-1 0,0 0 0,0 0 0,0 0 0,12 8 0,7 5 0,1-1 0,0-1 0,43 21 0,-13-12 0,1-2 0,88 24 0,124 18 0,122 1 0,-347-60 0,49 5 0,61 11 0,-147-22 0,-1 0 0,1 1 0,-1 0 0,1 0 0,-1 0 0,8 5 0,-12-7 0,0 1 0,0 0 0,0 0 0,0 0 0,0 0 0,0 0 0,0 0 0,-1 0 0,1 0 0,0 0 0,-1 0 0,1 1 0,-1-1 0,1 0 0,-1 0 0,1 1 0,-1-1 0,0 0 0,0 1 0,0-1 0,1 0 0,-1 1 0,-1-1 0,1 0 0,0 1 0,0-1 0,0 0 0,-1 0 0,1 1 0,-1-1 0,0 2 0,-8 17 0,-1-1 0,0 0 0,-19 23 0,-3 7 0,24-36 0,-11 18 0,1 1 0,1 0 0,1 1 0,-19 64 0,15-13 0,4 2 0,4 0 0,3 0 0,4 95 0,5-141 0,-1 0 0,-8 44 0,-13 91 0,13-92 0,-29 122 0,34-187 0,0-3 0,0-1 0,-7 16 0,9-25 0,0 0 0,-1-1 0,0 1 0,0 0 0,0-1 0,-1 0 0,0 0 0,1 0 0,-8 5 0,-26 17 0,0-2 0,-59 27 0,48-31 0,0-1 0,-2-3 0,-77 16 0,-156 12 0,263-42 0,-291 20 0,0-22 0,127-2 0,176 2 0,-1 0 0,1 0 0,0-1 0,0 0 0,0-1 0,0 0 0,0 0 0,-11-5 0,14 4 0,0 0 0,0 0 0,1 0 0,-1-1 0,1 0 0,0 1 0,0-1 0,0-1 0,1 1 0,0-1 0,-1 1 0,1-1 0,1 0 0,-3-5 0,-13-33-1365,2-4-5461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7T01:14:48.966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586 54 24575,'5'-3'0,"16"-8"0,1 1 0,33-11 0,-47 18 0,-1 1 0,1 1 0,0 0 0,0 0 0,-1 0 0,1 1 0,0 0 0,0 1 0,0 0 0,0 0 0,12 4 0,1 3 0,0 0 0,-1 2 0,37 22 0,53 45 0,-95-66 0,1 1 0,16 11 0,0 2 0,32 34 0,-56-51 0,-1 0 0,0 0 0,0 1 0,-1 0 0,0 1 0,0-1 0,-1 1 0,-1 0 0,0 1 0,0-1 0,-1 1 0,4 19 0,-3 33 0,-6 98 0,-1-69 0,2-62 0,-1-1 0,-1 0 0,-2 1 0,-1-2 0,-1 1 0,-1-1 0,-2 0 0,-25 50 0,-8-1 0,-87 114 0,-8 13 0,102-143 0,-33 78 0,60-116 0,0 0 0,2 0 0,1 1 0,1 0 0,0 1 0,2-1 0,0 27 0,4-43 0,0 1 0,1 0 0,-1-1 0,2 1 0,-1-1 0,1 0 0,1 1 0,-1-2 0,1 1 0,1 0 0,0-1 0,0 1 0,0-1 0,1-1 0,-1 1 0,2-1 0,8 7 0,0 0 0,2 0 0,0-1 0,0-1 0,1-1 0,1 0 0,26 9 0,-4-6 0,0-1 0,0-3 0,1-1 0,50 2 0,174-2 0,-208-8 0,250-1 0,-305 1 0,4 0 0,0 0 0,1 0 0,-1 1 0,13 4 0,-19-5 0,0 0 0,0 0 0,0 1 0,-1-1 0,1 0 0,0 1 0,0-1 0,0 1 0,-1-1 0,1 1 0,0-1 0,0 1 0,-1-1 0,1 1 0,-1 0 0,1-1 0,-1 1 0,1 0 0,-1 0 0,1-1 0,-1 1 0,1 0 0,-1 0 0,0 0 0,0 0 0,1 0 0,-1-1 0,0 1 0,0 0 0,0 0 0,0 0 0,0 0 0,0 0 0,0 0 0,0 0 0,0-1 0,-1 1 0,1 0 0,0 0 0,0 0 0,-1 0 0,1 0 0,-1-1 0,1 1 0,-1 0 0,1 0 0,-2 0 0,-12 20 0,-1-1 0,-25 26 0,19-23 0,-19 28 0,25-27 0,2 1 0,0 0 0,1 0 0,2 2 0,1-1 0,1 1 0,1 0 0,-6 53 0,6 10 0,6 128 0,2-104 0,0-90 0,-8 208 0,3-194 0,-1 0 0,-2 0 0,-2-1 0,-14 40 0,-62 164 0,70-205 0,-2-1 0,-1-1 0,-26 38 0,-12 21 0,52-86 0,2-2 0,0 0 0,-1-1 0,1 1 0,-1-1 0,0 0 0,0 1 0,0-1 0,-1-1 0,1 1 0,-1 0 0,0-1 0,0 0 0,0 0 0,-1 0 0,1 0 0,-7 2 0,-39 13 0,-1-3 0,0-2 0,-1-2 0,-64 5 0,-232-10 0,78-5 0,245 1 0,0 2 0,0 0 0,-38 13 0,-10 3 0,37-12-51,23-4-211,1-1-1,-1 0 0,0-1 0,-25 1 0,13-6-6563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7T01:27:41.71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45 23941,'14388'0'0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7T01:27:48.46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16180 1849 24575,'-3'-52'0,"-2"1"0,-2-1 0,-18-63 0,16 75 0,-87-347 0,-12-51 0,76 306 0,-5-28 0,26 116 0,-2-1 0,-27-62 0,10 29 0,-6-19 0,35 94 0,0 0 0,0 1 0,0-1 0,0 1 0,-1-1 0,1 1 0,-1 0 0,0-1 0,0 1 0,0 0 0,0 0 0,0 0 0,0 1 0,-1-1 0,1 0 0,0 1 0,-1 0 0,1-1 0,-1 1 0,0 0 0,1 0 0,-6-1 0,-4 0 0,-1 0 0,0 1 0,-24 1 0,15-1 0,-540 16 0,172-1 0,-1212-9-796,880-7 562,-10 0-24,-851 4-573,875 11 831,-122 0 0,-2088-12-439,1380-3 2548,940 42-1762,215-8-245,-3-25-102,95-4 0,170 6 0,-136 29 0,103-13 0,-372 36 0,417-49 0,-43 3 0,99-10 0,1 2 0,-92 25 0,4 0 0,-10-1 0,136-28 0,0 1 0,0 1 0,0 0 0,1 1 0,-1 0 0,2 2 0,-1-1 0,1 1 0,0 1 0,0 0 0,1 1 0,1 0 0,-17 20 0,6-4 0,1 2 0,1 0 0,1 2 0,-24 57 0,14-18 0,3 1 0,3 2 0,4 0 0,2 1 0,-6 81 0,9-39 0,-7 148 0,19-212 0,-1-31 0,2-1 0,0 1 0,1 0 0,7 34 0,-5-47 0,-1 0 0,1-1 0,0 1 0,0-1 0,1 1 0,0-1 0,0-1 0,0 1 0,1 0 0,-1-1 0,2 0 0,-1 0 0,0 0 0,1-1 0,0 0 0,0 0 0,0 0 0,1-1 0,-1 0 0,1 0 0,0-1 0,7 2 0,16 3 0,0-1 0,0-1 0,60 1 0,-33-3 0,440 18 21,2-21-52,-237-2-54,776 2 180,-993-3-95,0-2 0,0-2 0,-1-2 0,47-16 0,32-6 0,18 6 0,195-8 0,-285 28-1365,-9 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7T02:01:35.32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7T02:01:35.32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7T15:38:15.67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 24192,'5375'27'0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8T01:12:44.91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85 24575,'90'-4'0,"173"-32"0,18-2 0,214 33 0,-280 8 0,816-3 0,-775 14 0,-6 0 0,75-15 0,174 2 0,-252 12 0,70 1 0,608-15 0,-883 3 0,1 2 0,67 15 0,17 3 0,53 0 0,245 17 0,-272-26 0,-18-1 0,465-9 0,-300-5 0,-181 1 0,188-24 0,-7-5 0,-169 19 0,79-3 0,631 13 0,-400 2 0,-94-2 0,381 3 0,-426 11 0,159 1 0,2951-16 0,-1734 4 0,-1627-5 0,0-2 0,68-15 0,-66 9 0,106-6 0,-131 16 0,0-1 0,48-10 0,-57 8-113,-1 1-66,0-1 0,-1 0 0,0-1 1,0-1-1,0-1 0,29-16 0,-29 10-6647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8T02:01:09.03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0 24575,'863'11'0,"185"23"-715,319-22 925,-838-14 295,-485 1-505,64-9 0,51-4-1365,-112 12-5461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8T02:01:12.53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 24575,'164'0'0,"904"17"0,57-5 0,-712-14 0,160 19 0,-168 26 0,-133-15 0,-148-17 0,117-3 0,29 3 0,-84 3 0,202-10 0,-196-6 0,1665 2 0,-1837-1 0,0-1 0,31-7 0,21-3 0,60 1 0,150-8 0,-206 20-93,55-2 304,-111-1-507,-1 0-1,0-1 0,0-1 1,30-10-1,-26 5-6529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8T02:01:13.73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B58700-9FA2-48CE-AC88-D71D45EB490A}" type="datetimeFigureOut">
              <a:rPr lang="en-US" smtClean="0"/>
              <a:pPr/>
              <a:t>6/29/2025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BC4E5-2BC1-4F43-85DD-A1B8F74CB7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04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Black Sign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swf_photo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58788" y="544531"/>
            <a:ext cx="4811856" cy="1854206"/>
          </a:xfrm>
        </p:spPr>
        <p:txBody>
          <a:bodyPr anchor="b" anchorCtr="0">
            <a:noAutofit/>
          </a:bodyPr>
          <a:lstStyle>
            <a:lvl1pPr marL="0" indent="0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  <a:defRPr sz="360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900">
                <a:solidFill>
                  <a:schemeClr val="bg1"/>
                </a:solidFill>
              </a:defRPr>
            </a:lvl2pPr>
            <a:lvl3pPr marL="468000" indent="0">
              <a:buNone/>
              <a:defRPr/>
            </a:lvl3pPr>
          </a:lstStyle>
          <a:p>
            <a:pPr lvl="0"/>
            <a:r>
              <a:rPr lang="en-US" dirty="0"/>
              <a:t>Master Title Slide Headline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5701703" y="2274980"/>
            <a:ext cx="3074395" cy="2060440"/>
            <a:chOff x="5701703" y="682760"/>
            <a:chExt cx="3074395" cy="2060440"/>
          </a:xfrm>
        </p:grpSpPr>
        <p:sp>
          <p:nvSpPr>
            <p:cNvPr id="5" name="Freeform 4"/>
            <p:cNvSpPr/>
            <p:nvPr/>
          </p:nvSpPr>
          <p:spPr>
            <a:xfrm>
              <a:off x="6164291" y="682760"/>
              <a:ext cx="2013677" cy="2060440"/>
            </a:xfrm>
            <a:custGeom>
              <a:avLst/>
              <a:gdLst>
                <a:gd name="connsiteX0" fmla="*/ 0 w 4457700"/>
                <a:gd name="connsiteY0" fmla="*/ 0 h 4552950"/>
                <a:gd name="connsiteX1" fmla="*/ 4457700 w 4457700"/>
                <a:gd name="connsiteY1" fmla="*/ 1828800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24037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16893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62462"/>
                <a:gd name="connsiteY0" fmla="*/ 0 h 4552950"/>
                <a:gd name="connsiteX1" fmla="*/ 4462462 w 4462462"/>
                <a:gd name="connsiteY1" fmla="*/ 1819275 h 4552950"/>
                <a:gd name="connsiteX2" fmla="*/ 4457700 w 4462462"/>
                <a:gd name="connsiteY2" fmla="*/ 2743200 h 4552950"/>
                <a:gd name="connsiteX3" fmla="*/ 0 w 4462462"/>
                <a:gd name="connsiteY3" fmla="*/ 4552950 h 4552950"/>
                <a:gd name="connsiteX4" fmla="*/ 0 w 4462462"/>
                <a:gd name="connsiteY4" fmla="*/ 3543300 h 4552950"/>
                <a:gd name="connsiteX5" fmla="*/ 3282950 w 4462462"/>
                <a:gd name="connsiteY5" fmla="*/ 2286000 h 4552950"/>
                <a:gd name="connsiteX6" fmla="*/ 0 w 4462462"/>
                <a:gd name="connsiteY6" fmla="*/ 1016000 h 4552950"/>
                <a:gd name="connsiteX7" fmla="*/ 0 w 4462462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82950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75807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57713"/>
                <a:gd name="connsiteX1" fmla="*/ 4462462 w 4462921"/>
                <a:gd name="connsiteY1" fmla="*/ 1819275 h 4557713"/>
                <a:gd name="connsiteX2" fmla="*/ 4462463 w 4462921"/>
                <a:gd name="connsiteY2" fmla="*/ 2747962 h 4557713"/>
                <a:gd name="connsiteX3" fmla="*/ 2381 w 4462921"/>
                <a:gd name="connsiteY3" fmla="*/ 4557713 h 4557713"/>
                <a:gd name="connsiteX4" fmla="*/ 0 w 4462921"/>
                <a:gd name="connsiteY4" fmla="*/ 3543300 h 4557713"/>
                <a:gd name="connsiteX5" fmla="*/ 3275807 w 4462921"/>
                <a:gd name="connsiteY5" fmla="*/ 2286000 h 4557713"/>
                <a:gd name="connsiteX6" fmla="*/ 0 w 4462921"/>
                <a:gd name="connsiteY6" fmla="*/ 1016000 h 4557713"/>
                <a:gd name="connsiteX7" fmla="*/ 0 w 4462921"/>
                <a:gd name="connsiteY7" fmla="*/ 0 h 4557713"/>
                <a:gd name="connsiteX0" fmla="*/ 0 w 4462921"/>
                <a:gd name="connsiteY0" fmla="*/ 0 h 4562475"/>
                <a:gd name="connsiteX1" fmla="*/ 4462462 w 4462921"/>
                <a:gd name="connsiteY1" fmla="*/ 1819275 h 4562475"/>
                <a:gd name="connsiteX2" fmla="*/ 4462463 w 4462921"/>
                <a:gd name="connsiteY2" fmla="*/ 2747962 h 4562475"/>
                <a:gd name="connsiteX3" fmla="*/ 2381 w 4462921"/>
                <a:gd name="connsiteY3" fmla="*/ 4562475 h 4562475"/>
                <a:gd name="connsiteX4" fmla="*/ 0 w 4462921"/>
                <a:gd name="connsiteY4" fmla="*/ 3543300 h 4562475"/>
                <a:gd name="connsiteX5" fmla="*/ 3275807 w 4462921"/>
                <a:gd name="connsiteY5" fmla="*/ 2286000 h 4562475"/>
                <a:gd name="connsiteX6" fmla="*/ 0 w 4462921"/>
                <a:gd name="connsiteY6" fmla="*/ 1016000 h 4562475"/>
                <a:gd name="connsiteX7" fmla="*/ 0 w 4462921"/>
                <a:gd name="connsiteY7" fmla="*/ 0 h 4562475"/>
                <a:gd name="connsiteX0" fmla="*/ 2486 w 4465407"/>
                <a:gd name="connsiteY0" fmla="*/ 0 h 4564856"/>
                <a:gd name="connsiteX1" fmla="*/ 4464948 w 4465407"/>
                <a:gd name="connsiteY1" fmla="*/ 1819275 h 4564856"/>
                <a:gd name="connsiteX2" fmla="*/ 4464949 w 4465407"/>
                <a:gd name="connsiteY2" fmla="*/ 2747962 h 4564856"/>
                <a:gd name="connsiteX3" fmla="*/ 105 w 4465407"/>
                <a:gd name="connsiteY3" fmla="*/ 4564856 h 4564856"/>
                <a:gd name="connsiteX4" fmla="*/ 2486 w 4465407"/>
                <a:gd name="connsiteY4" fmla="*/ 3543300 h 4564856"/>
                <a:gd name="connsiteX5" fmla="*/ 3278293 w 4465407"/>
                <a:gd name="connsiteY5" fmla="*/ 2286000 h 4564856"/>
                <a:gd name="connsiteX6" fmla="*/ 2486 w 4465407"/>
                <a:gd name="connsiteY6" fmla="*/ 1016000 h 4564856"/>
                <a:gd name="connsiteX7" fmla="*/ 2486 w 4465407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47962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0343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5106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16000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9275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64129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5066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18079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7262"/>
                <a:gd name="connsiteX1" fmla="*/ 4467527 w 4467986"/>
                <a:gd name="connsiteY1" fmla="*/ 1814537 h 4567262"/>
                <a:gd name="connsiteX2" fmla="*/ 4467529 w 4467986"/>
                <a:gd name="connsiteY2" fmla="*/ 2757512 h 4567262"/>
                <a:gd name="connsiteX3" fmla="*/ 2685 w 4467986"/>
                <a:gd name="connsiteY3" fmla="*/ 4567262 h 4567262"/>
                <a:gd name="connsiteX4" fmla="*/ 2684 w 4467986"/>
                <a:gd name="connsiteY4" fmla="*/ 3548087 h 4567262"/>
                <a:gd name="connsiteX5" fmla="*/ 3266585 w 4467986"/>
                <a:gd name="connsiteY5" fmla="*/ 2290788 h 4567262"/>
                <a:gd name="connsiteX6" fmla="*/ 2533 w 4467986"/>
                <a:gd name="connsiteY6" fmla="*/ 1025551 h 4567262"/>
                <a:gd name="connsiteX7" fmla="*/ 0 w 4467986"/>
                <a:gd name="connsiteY7" fmla="*/ 0 h 4567262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50493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57411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65956" h="4569668">
                  <a:moveTo>
                    <a:pt x="377" y="0"/>
                  </a:moveTo>
                  <a:lnTo>
                    <a:pt x="4465497" y="1816943"/>
                  </a:lnTo>
                  <a:cubicBezTo>
                    <a:pt x="4463910" y="2124918"/>
                    <a:pt x="4467086" y="2451943"/>
                    <a:pt x="4465499" y="2759918"/>
                  </a:cubicBezTo>
                  <a:lnTo>
                    <a:pt x="655" y="4569668"/>
                  </a:lnTo>
                  <a:cubicBezTo>
                    <a:pt x="-139" y="4230737"/>
                    <a:pt x="1448" y="3887042"/>
                    <a:pt x="654" y="3548111"/>
                  </a:cubicBezTo>
                  <a:lnTo>
                    <a:pt x="3257411" y="2293194"/>
                  </a:lnTo>
                  <a:lnTo>
                    <a:pt x="503" y="1027957"/>
                  </a:lnTo>
                  <a:cubicBezTo>
                    <a:pt x="-1186" y="686909"/>
                    <a:pt x="2066" y="341048"/>
                    <a:pt x="3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1703" y="1523009"/>
              <a:ext cx="3074395" cy="251999"/>
            </a:xfrm>
            <a:prstGeom prst="rect">
              <a:avLst/>
            </a:prstGeom>
          </p:spPr>
        </p:pic>
      </p:grp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817" y="6279323"/>
            <a:ext cx="2520922" cy="176078"/>
          </a:xfrm>
          <a:prstGeom prst="rect">
            <a:avLst/>
          </a:prstGeom>
        </p:spPr>
      </p:pic>
      <p:cxnSp>
        <p:nvCxnSpPr>
          <p:cNvPr id="12" name="Straight Connector 11"/>
          <p:cNvCxnSpPr/>
          <p:nvPr userDrawn="1"/>
        </p:nvCxnSpPr>
        <p:spPr>
          <a:xfrm>
            <a:off x="457200" y="6570921"/>
            <a:ext cx="8686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459320" y="2543510"/>
            <a:ext cx="4811323" cy="1233311"/>
          </a:xfrm>
        </p:spPr>
        <p:txBody>
          <a:bodyPr>
            <a:noAutofit/>
          </a:bodyPr>
          <a:lstStyle>
            <a:lvl1pPr marL="0" indent="0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  <a:defRPr sz="2400" baseline="0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900">
                <a:solidFill>
                  <a:schemeClr val="bg1"/>
                </a:solidFill>
              </a:defRPr>
            </a:lvl2pPr>
            <a:lvl3pPr marL="468000" indent="0">
              <a:buNone/>
              <a:defRPr/>
            </a:lvl3pPr>
          </a:lstStyle>
          <a:p>
            <a:pPr lvl="0"/>
            <a:r>
              <a:rPr lang="en-US" dirty="0"/>
              <a:t>Master Title Slide Headline</a:t>
            </a:r>
          </a:p>
        </p:txBody>
      </p:sp>
    </p:spTree>
    <p:extLst>
      <p:ext uri="{BB962C8B-B14F-4D97-AF65-F5344CB8AC3E}">
        <p14:creationId xmlns:p14="http://schemas.microsoft.com/office/powerpoint/2010/main" val="4195377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k318019rkn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310097"/>
            <a:ext cx="8228013" cy="670326"/>
          </a:xfrm>
        </p:spPr>
        <p:txBody>
          <a:bodyPr lIns="0" rIns="0" anchor="b" anchorCtr="0">
            <a:noAutofit/>
          </a:bodyPr>
          <a:lstStyle>
            <a:lvl1pPr marL="0" indent="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  <a:defRPr sz="4000" b="0" baseline="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900">
                <a:solidFill>
                  <a:schemeClr val="bg1"/>
                </a:solidFill>
              </a:defRPr>
            </a:lvl2pPr>
            <a:lvl3pPr marL="468000" indent="0">
              <a:buNone/>
              <a:defRPr/>
            </a:lvl3pPr>
          </a:lstStyle>
          <a:p>
            <a:pPr lvl="0"/>
            <a:r>
              <a:rPr lang="en-US" dirty="0"/>
              <a:t>Master Divider Slide Headline</a:t>
            </a:r>
          </a:p>
        </p:txBody>
      </p:sp>
    </p:spTree>
    <p:extLst>
      <p:ext uri="{BB962C8B-B14F-4D97-AF65-F5344CB8AC3E}">
        <p14:creationId xmlns:p14="http://schemas.microsoft.com/office/powerpoint/2010/main" val="2309944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1pPr marL="0" indent="0">
              <a:spcBef>
                <a:spcPts val="1200"/>
              </a:spcBef>
              <a:spcAft>
                <a:spcPts val="0"/>
              </a:spcAft>
              <a:buNone/>
              <a:defRPr sz="2400" b="1">
                <a:solidFill>
                  <a:schemeClr val="bg2"/>
                </a:solidFill>
              </a:defRPr>
            </a:lvl1pPr>
            <a:lvl2pPr marL="231775" indent="-231775">
              <a:spcBef>
                <a:spcPts val="624"/>
              </a:spcBef>
              <a:buFont typeface="Arial" pitchFamily="34" charset="0"/>
              <a:buChar char="•"/>
              <a:defRPr/>
            </a:lvl2pPr>
            <a:lvl3pPr marL="457200" indent="-231775">
              <a:buFont typeface="Arial" pitchFamily="34" charset="0"/>
              <a:buChar char="–"/>
              <a:defRPr/>
            </a:lvl3pPr>
            <a:lvl4pPr marL="688975" indent="-225425">
              <a:buFont typeface="Arial" pitchFamily="34" charset="0"/>
              <a:buChar char="•"/>
              <a:defRPr/>
            </a:lvl4pPr>
            <a:lvl5pPr marL="914400" indent="-225425">
              <a:buFont typeface="Arial" pitchFamily="34" charset="0"/>
              <a:buChar char="–"/>
              <a:tabLst/>
              <a:defRPr/>
            </a:lvl5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57201" y="1381125"/>
            <a:ext cx="4025899" cy="482441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quarter" idx="13" hasCustomPrompt="1"/>
          </p:nvPr>
        </p:nvSpPr>
        <p:spPr>
          <a:xfrm>
            <a:off x="4659314" y="1381125"/>
            <a:ext cx="4025899" cy="482441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02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-content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57202" y="1381125"/>
            <a:ext cx="4025898" cy="482441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spcAft>
                <a:spcPts val="0"/>
              </a:spcAft>
              <a:buNone/>
              <a:defRPr sz="2000" b="1">
                <a:solidFill>
                  <a:schemeClr val="bg2"/>
                </a:solidFill>
              </a:defRPr>
            </a:lvl1pPr>
            <a:lvl2pPr marL="231775" indent="-231775">
              <a:buFont typeface="Arial" pitchFamily="34" charset="0"/>
              <a:buChar char="•"/>
              <a:defRPr sz="2000"/>
            </a:lvl2pPr>
            <a:lvl3pPr marL="457200" indent="-231775">
              <a:buFont typeface="Arial" pitchFamily="34" charset="0"/>
              <a:buChar char="–"/>
              <a:defRPr sz="1800"/>
            </a:lvl3pPr>
            <a:lvl4pPr marL="688975" indent="-225425">
              <a:buFont typeface="Arial" pitchFamily="34" charset="0"/>
              <a:buChar char="•"/>
              <a:defRPr sz="1600"/>
            </a:lvl4pPr>
            <a:lvl5pPr marL="914400" indent="-225425">
              <a:buFont typeface="Arial" pitchFamily="34" charset="0"/>
              <a:buChar char="–"/>
              <a:tabLst/>
              <a:defRPr sz="1400"/>
            </a:lvl5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sp>
        <p:nvSpPr>
          <p:cNvPr id="8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4660900" y="1381125"/>
            <a:ext cx="4025898" cy="482441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spcAft>
                <a:spcPts val="0"/>
              </a:spcAft>
              <a:buNone/>
              <a:defRPr sz="2000" b="1">
                <a:solidFill>
                  <a:schemeClr val="bg2"/>
                </a:solidFill>
              </a:defRPr>
            </a:lvl1pPr>
            <a:lvl2pPr marL="231775" indent="-231775">
              <a:buFont typeface="Arial" pitchFamily="34" charset="0"/>
              <a:buChar char="•"/>
              <a:defRPr sz="2000"/>
            </a:lvl2pPr>
            <a:lvl3pPr marL="457200" indent="-231775">
              <a:buFont typeface="Arial" pitchFamily="34" charset="0"/>
              <a:buChar char="–"/>
              <a:defRPr sz="1800"/>
            </a:lvl3pPr>
            <a:lvl4pPr marL="688975" indent="-225425">
              <a:buFont typeface="Arial" pitchFamily="34" charset="0"/>
              <a:buChar char="•"/>
              <a:defRPr sz="1600"/>
            </a:lvl4pPr>
            <a:lvl5pPr marL="914400" indent="-225425">
              <a:buFont typeface="Arial" pitchFamily="34" charset="0"/>
              <a:buChar char="–"/>
              <a:tabLst/>
              <a:defRPr sz="1400"/>
            </a:lvl5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666666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666666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00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293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23583599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359082"/>
            <a:ext cx="8228013" cy="605012"/>
          </a:xfrm>
        </p:spPr>
        <p:txBody>
          <a:bodyPr lIns="0" rIns="0" anchor="b" anchorCtr="0">
            <a:noAutofit/>
          </a:bodyPr>
          <a:lstStyle>
            <a:lvl1pPr marL="0" indent="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  <a:defRPr sz="4000" b="0" baseline="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900">
                <a:solidFill>
                  <a:schemeClr val="bg1"/>
                </a:solidFill>
              </a:defRPr>
            </a:lvl2pPr>
            <a:lvl3pPr marL="468000" indent="0">
              <a:buNone/>
              <a:defRPr/>
            </a:lvl3pPr>
          </a:lstStyle>
          <a:p>
            <a:pPr lvl="0"/>
            <a:r>
              <a:rPr lang="en-US" dirty="0"/>
              <a:t>Master Divider Slide Headline</a:t>
            </a:r>
          </a:p>
        </p:txBody>
      </p:sp>
    </p:spTree>
    <p:extLst>
      <p:ext uri="{BB962C8B-B14F-4D97-AF65-F5344CB8AC3E}">
        <p14:creationId xmlns:p14="http://schemas.microsoft.com/office/powerpoint/2010/main" val="2309944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tk153597rke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359082"/>
            <a:ext cx="8228013" cy="605012"/>
          </a:xfrm>
        </p:spPr>
        <p:txBody>
          <a:bodyPr lIns="0" rIns="0" anchor="b" anchorCtr="0">
            <a:noAutofit/>
          </a:bodyPr>
          <a:lstStyle>
            <a:lvl1pPr marL="0" indent="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  <a:defRPr sz="4000" b="0" baseline="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900">
                <a:solidFill>
                  <a:schemeClr val="bg1"/>
                </a:solidFill>
              </a:defRPr>
            </a:lvl2pPr>
            <a:lvl3pPr marL="468000" indent="0">
              <a:buNone/>
              <a:defRPr/>
            </a:lvl3pPr>
          </a:lstStyle>
          <a:p>
            <a:pPr lvl="0"/>
            <a:r>
              <a:rPr lang="en-US" dirty="0"/>
              <a:t>Master Divider Slide Headline</a:t>
            </a:r>
          </a:p>
        </p:txBody>
      </p:sp>
    </p:spTree>
    <p:extLst>
      <p:ext uri="{BB962C8B-B14F-4D97-AF65-F5344CB8AC3E}">
        <p14:creationId xmlns:p14="http://schemas.microsoft.com/office/powerpoint/2010/main" val="2309944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xt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57201" y="1381125"/>
            <a:ext cx="8228012" cy="5037138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nowledge Ch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Light Bulb_PC [Converted]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15201" y="170122"/>
            <a:ext cx="1388650" cy="2239199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57201" y="1381125"/>
            <a:ext cx="8228012" cy="5037138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Magnify_PC [Converted]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017943" y="158624"/>
            <a:ext cx="2000897" cy="2006852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57201" y="1381125"/>
            <a:ext cx="8228012" cy="5037138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u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peaker_PC [Converted]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642376" y="195281"/>
            <a:ext cx="2191150" cy="1808840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57201" y="1381125"/>
            <a:ext cx="8228012" cy="5037138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140258517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189368" y="3429000"/>
            <a:ext cx="4114286" cy="3419048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100605056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218677" y="3062745"/>
            <a:ext cx="2447619" cy="3657143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rse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A053798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510986" y="4689478"/>
            <a:ext cx="5485715" cy="2019048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rs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A053797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510986" y="4584716"/>
            <a:ext cx="5485715" cy="2123810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l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kd186908sdc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405212" y="3953896"/>
            <a:ext cx="3657143" cy="2733334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381125"/>
            <a:ext cx="8228012" cy="482441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pic>
        <p:nvPicPr>
          <p:cNvPr id="2" name="Picture 2" descr="Lua language Icons, Logos, Symbols ...">
            <a:extLst>
              <a:ext uri="{FF2B5EF4-FFF2-40B4-BE49-F238E27FC236}">
                <a16:creationId xmlns:a16="http://schemas.microsoft.com/office/drawing/2014/main" id="{4227A58B-F1DD-DF02-824E-4F1798E44E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249102"/>
            <a:ext cx="609600" cy="627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1531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1" r:id="rId10"/>
    <p:sldLayoutId id="2147483657" r:id="rId11"/>
    <p:sldLayoutId id="2147483658" r:id="rId12"/>
    <p:sldLayoutId id="2147483659" r:id="rId13"/>
    <p:sldLayoutId id="2147483663" r:id="rId14"/>
    <p:sldLayoutId id="2147483662" r:id="rId15"/>
    <p:sldLayoutId id="2147483664" r:id="rId16"/>
    <p:sldLayoutId id="2147483665" r:id="rId17"/>
    <p:sldLayoutId id="2147483666" r:id="rId18"/>
    <p:sldLayoutId id="2147483667" r:id="rId19"/>
  </p:sldLayoutIdLst>
  <p:hf hdr="0" ftr="0" dt="0"/>
  <p:txStyles>
    <p:titleStyle>
      <a:lvl1pPr algn="l" defTabSz="914400" rtl="0" eaLnBrk="1" latinLnBrk="0" hangingPunct="1">
        <a:lnSpc>
          <a:spcPts val="2600"/>
        </a:lnSpc>
        <a:spcBef>
          <a:spcPct val="0"/>
        </a:spcBef>
        <a:buNone/>
        <a:defRPr sz="2600" b="1" kern="1200">
          <a:solidFill>
            <a:schemeClr val="accent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231775" indent="-231775" algn="l" defTabSz="914400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Clr>
          <a:schemeClr val="tx1"/>
        </a:buClr>
        <a:buSzPct val="80000"/>
        <a:buFont typeface="Arial" pitchFamily="34" charset="0"/>
        <a:buChar char="•"/>
        <a:defRPr sz="2600" b="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457200" indent="-231775" algn="l" defTabSz="914400" rtl="0" eaLnBrk="1" latinLnBrk="0" hangingPunct="1">
        <a:lnSpc>
          <a:spcPct val="100000"/>
        </a:lnSpc>
        <a:spcBef>
          <a:spcPts val="624"/>
        </a:spcBef>
        <a:spcAft>
          <a:spcPts val="0"/>
        </a:spcAft>
        <a:buClr>
          <a:schemeClr val="tx1"/>
        </a:buClr>
        <a:buSzPct val="80000"/>
        <a:buFont typeface="Arial" pitchFamily="34" charset="0"/>
        <a:buChar char="–"/>
        <a:defRPr sz="2400" kern="1200">
          <a:solidFill>
            <a:srgbClr val="000000"/>
          </a:solidFill>
          <a:latin typeface="Arial" pitchFamily="34" charset="0"/>
          <a:ea typeface="+mn-ea"/>
          <a:cs typeface="Arial" pitchFamily="34" charset="0"/>
        </a:defRPr>
      </a:lvl2pPr>
      <a:lvl3pPr marL="688975" indent="-231775" algn="l" defTabSz="914400" rtl="0" eaLnBrk="1" latinLnBrk="0" hangingPunct="1">
        <a:lnSpc>
          <a:spcPct val="100000"/>
        </a:lnSpc>
        <a:spcBef>
          <a:spcPts val="576"/>
        </a:spcBef>
        <a:spcAft>
          <a:spcPts val="0"/>
        </a:spcAft>
        <a:buClr>
          <a:schemeClr val="tx1"/>
        </a:buClr>
        <a:buSzPct val="80000"/>
        <a:buFont typeface="Arial" pitchFamily="34" charset="0"/>
        <a:buChar char="•"/>
        <a:defRPr sz="2000" kern="1200" baseline="0">
          <a:solidFill>
            <a:srgbClr val="000000"/>
          </a:solidFill>
          <a:latin typeface="Arial" pitchFamily="34" charset="0"/>
          <a:ea typeface="+mn-ea"/>
          <a:cs typeface="Arial" pitchFamily="34" charset="0"/>
        </a:defRPr>
      </a:lvl3pPr>
      <a:lvl4pPr marL="914400" indent="-225425" algn="l" defTabSz="914400" rtl="0" eaLnBrk="1" latinLnBrk="0" hangingPunct="1">
        <a:lnSpc>
          <a:spcPct val="100000"/>
        </a:lnSpc>
        <a:spcBef>
          <a:spcPts val="528"/>
        </a:spcBef>
        <a:spcAft>
          <a:spcPts val="0"/>
        </a:spcAft>
        <a:buClr>
          <a:schemeClr val="tx1"/>
        </a:buClr>
        <a:buSzPct val="80000"/>
        <a:buFont typeface="Arial" pitchFamily="34" charset="0"/>
        <a:buChar char="–"/>
        <a:defRPr sz="1800" kern="1200" baseline="0">
          <a:solidFill>
            <a:srgbClr val="000000"/>
          </a:solidFill>
          <a:latin typeface="Arial" pitchFamily="34" charset="0"/>
          <a:ea typeface="+mn-ea"/>
          <a:cs typeface="Arial" pitchFamily="34" charset="0"/>
        </a:defRPr>
      </a:lvl4pPr>
      <a:lvl5pPr marL="1146175" indent="-231775" algn="l" defTabSz="914400" rtl="0" eaLnBrk="1" latinLnBrk="0" hangingPunct="1">
        <a:lnSpc>
          <a:spcPct val="100000"/>
        </a:lnSpc>
        <a:spcBef>
          <a:spcPts val="480"/>
        </a:spcBef>
        <a:spcAft>
          <a:spcPts val="0"/>
        </a:spcAft>
        <a:buClr>
          <a:schemeClr val="tx1"/>
        </a:buClr>
        <a:buSzPct val="80000"/>
        <a:buFont typeface="Arial" pitchFamily="34" charset="0"/>
        <a:buChar char="•"/>
        <a:defRPr sz="1600" kern="1200" baseline="0">
          <a:solidFill>
            <a:srgbClr val="000000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9.png"/><Relationship Id="rId5" Type="http://schemas.openxmlformats.org/officeDocument/2006/relationships/customXml" Target="../ink/ink4.xml"/><Relationship Id="rId4" Type="http://schemas.openxmlformats.org/officeDocument/2006/relationships/image" Target="../media/image1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13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1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luabinaries.sourceforge.net/download.html" TargetMode="Externa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7" Type="http://schemas.openxmlformats.org/officeDocument/2006/relationships/image" Target="../media/image148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1.xml"/><Relationship Id="rId5" Type="http://schemas.openxmlformats.org/officeDocument/2006/relationships/image" Target="../media/image147.png"/><Relationship Id="rId4" Type="http://schemas.openxmlformats.org/officeDocument/2006/relationships/customXml" Target="../ink/ink10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qlite.org/download.html" TargetMode="External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10944-30F0-ADB3-2275-75ACD6A54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2D2D5-3F2D-F8C7-0A91-0ED8791ED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External Libraries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78B516-D9E8-FED7-8E5D-8AD3C7465B19}"/>
              </a:ext>
            </a:extLst>
          </p:cNvPr>
          <p:cNvSpPr txBox="1"/>
          <p:nvPr/>
        </p:nvSpPr>
        <p:spPr>
          <a:xfrm>
            <a:off x="2514600" y="1339334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Json Parsing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4C29E7-2F96-7B3F-4690-8CD828295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399" y="2362200"/>
            <a:ext cx="5976651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910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96FDE-BA51-DEA0-9BD8-C7A09F19F1A3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Lua </a:t>
            </a:r>
            <a:r>
              <a:rPr lang="en-US" b="1" dirty="0"/>
              <a:t>tables</a:t>
            </a:r>
            <a:r>
              <a:rPr lang="en-US" dirty="0"/>
              <a:t> are the </a:t>
            </a:r>
            <a:r>
              <a:rPr lang="en-US" b="1" dirty="0"/>
              <a:t>only data structure</a:t>
            </a:r>
            <a:r>
              <a:rPr lang="en-US" dirty="0"/>
              <a:t> in the language — they serve as:</a:t>
            </a:r>
          </a:p>
          <a:p>
            <a:pPr lvl="1"/>
            <a:r>
              <a:rPr lang="en-US" dirty="0"/>
              <a:t>Arrays</a:t>
            </a:r>
          </a:p>
          <a:p>
            <a:pPr lvl="1"/>
            <a:r>
              <a:rPr lang="en-US" dirty="0"/>
              <a:t>Dictionaries (maps)</a:t>
            </a:r>
          </a:p>
          <a:p>
            <a:pPr lvl="1"/>
            <a:r>
              <a:rPr lang="en-US" dirty="0"/>
              <a:t>Objects</a:t>
            </a:r>
          </a:p>
          <a:p>
            <a:pPr lvl="1"/>
            <a:r>
              <a:rPr lang="en-US" dirty="0"/>
              <a:t>Records</a:t>
            </a:r>
          </a:p>
          <a:p>
            <a:pPr lvl="1"/>
            <a:r>
              <a:rPr lang="en-US" dirty="0"/>
              <a:t>Sets</a:t>
            </a:r>
          </a:p>
          <a:p>
            <a:pPr lvl="1"/>
            <a:r>
              <a:rPr lang="en-US" dirty="0"/>
              <a:t>Modules</a:t>
            </a:r>
          </a:p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EC8B62-2754-E8D5-455D-064B23E78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Tables</a:t>
            </a:r>
          </a:p>
        </p:txBody>
      </p:sp>
    </p:spTree>
    <p:extLst>
      <p:ext uri="{BB962C8B-B14F-4D97-AF65-F5344CB8AC3E}">
        <p14:creationId xmlns:p14="http://schemas.microsoft.com/office/powerpoint/2010/main" val="2773433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DA3534-AEC3-E504-3073-483912715DB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Empty table</a:t>
            </a:r>
          </a:p>
          <a:p>
            <a:r>
              <a:rPr lang="en-IN" dirty="0">
                <a:highlight>
                  <a:srgbClr val="FFFF00"/>
                </a:highlight>
              </a:rPr>
              <a:t>local t = {}</a:t>
            </a:r>
          </a:p>
          <a:p>
            <a:r>
              <a:rPr lang="en-IN" dirty="0"/>
              <a:t>Array-style constructor (numerical indices)</a:t>
            </a:r>
          </a:p>
          <a:p>
            <a:r>
              <a:rPr lang="en-US" dirty="0">
                <a:highlight>
                  <a:srgbClr val="FFFF00"/>
                </a:highlight>
              </a:rPr>
              <a:t>local colors = { "red", "green", "blue" }</a:t>
            </a:r>
          </a:p>
          <a:p>
            <a:r>
              <a:rPr lang="en-US" dirty="0">
                <a:highlight>
                  <a:srgbClr val="FFFF00"/>
                </a:highlight>
              </a:rPr>
              <a:t>-- Equivalent to:</a:t>
            </a:r>
          </a:p>
          <a:p>
            <a:r>
              <a:rPr lang="en-US" dirty="0">
                <a:highlight>
                  <a:srgbClr val="FFFF00"/>
                </a:highlight>
              </a:rPr>
              <a:t>-- colors = { [1] = "red", [2] = "green", [3] = "blue" }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056AB83-DD71-47E5-DC1D-40CC64492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 Constructor</a:t>
            </a:r>
          </a:p>
        </p:txBody>
      </p:sp>
    </p:spTree>
    <p:extLst>
      <p:ext uri="{BB962C8B-B14F-4D97-AF65-F5344CB8AC3E}">
        <p14:creationId xmlns:p14="http://schemas.microsoft.com/office/powerpoint/2010/main" val="3230369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9BCF8-C8CF-EE8F-6553-7BF512923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48C63A-D3CE-5441-9A59-59DC7A63134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b="1" dirty="0"/>
              <a:t>Key-value constructor</a:t>
            </a:r>
            <a:r>
              <a:rPr lang="en-IN" dirty="0"/>
              <a:t> (dictionary)</a:t>
            </a:r>
          </a:p>
          <a:p>
            <a:r>
              <a:rPr lang="en-US" dirty="0"/>
              <a:t>local person = {</a:t>
            </a:r>
          </a:p>
          <a:p>
            <a:r>
              <a:rPr lang="en-US" dirty="0"/>
              <a:t>  name = "Alice",</a:t>
            </a:r>
          </a:p>
          <a:p>
            <a:r>
              <a:rPr lang="en-US" dirty="0"/>
              <a:t>  age = 28,</a:t>
            </a:r>
          </a:p>
          <a:p>
            <a:r>
              <a:rPr lang="en-US" dirty="0"/>
              <a:t>  city = "Delhi"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-- Internally: { ["name"] = "Alice", ["age"] = 28, ... }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7E4968-EF04-481C-5716-0E0029799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 Constructor</a:t>
            </a:r>
          </a:p>
        </p:txBody>
      </p:sp>
    </p:spTree>
    <p:extLst>
      <p:ext uri="{BB962C8B-B14F-4D97-AF65-F5344CB8AC3E}">
        <p14:creationId xmlns:p14="http://schemas.microsoft.com/office/powerpoint/2010/main" val="3587523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B573C-29D2-CA30-4B6B-32BE3E350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6F3F0D-1C2C-2AEF-977E-A2C015985D7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b="1" dirty="0"/>
              <a:t>Mixed constructor</a:t>
            </a:r>
          </a:p>
          <a:p>
            <a:r>
              <a:rPr lang="en-US" dirty="0"/>
              <a:t>local mix = {</a:t>
            </a:r>
          </a:p>
          <a:p>
            <a:r>
              <a:rPr lang="en-US" dirty="0"/>
              <a:t>  "cat",</a:t>
            </a:r>
          </a:p>
          <a:p>
            <a:r>
              <a:rPr lang="en-US" dirty="0"/>
              <a:t>  species = "feline",</a:t>
            </a:r>
          </a:p>
          <a:p>
            <a:r>
              <a:rPr lang="en-US" dirty="0"/>
              <a:t>  [10] = "ten",</a:t>
            </a:r>
          </a:p>
          <a:p>
            <a:r>
              <a:rPr lang="en-US" dirty="0"/>
              <a:t>  [true] = "</a:t>
            </a:r>
            <a:r>
              <a:rPr lang="en-US" dirty="0" err="1"/>
              <a:t>boolean</a:t>
            </a:r>
            <a:r>
              <a:rPr lang="en-US" dirty="0"/>
              <a:t> key"</a:t>
            </a:r>
          </a:p>
          <a:p>
            <a:r>
              <a:rPr lang="en-US" dirty="0"/>
              <a:t>}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CE8668-8772-81CB-2AC5-9BC37E5A8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 Constructor</a:t>
            </a:r>
          </a:p>
        </p:txBody>
      </p:sp>
    </p:spTree>
    <p:extLst>
      <p:ext uri="{BB962C8B-B14F-4D97-AF65-F5344CB8AC3E}">
        <p14:creationId xmlns:p14="http://schemas.microsoft.com/office/powerpoint/2010/main" val="1306028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5CC28D-0702-3847-EE5B-4C02DDF6792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Valid Lua table keys (indices):</a:t>
            </a:r>
          </a:p>
          <a:p>
            <a:r>
              <a:rPr lang="en-US" dirty="0"/>
              <a:t>Any value except nil and </a:t>
            </a:r>
            <a:r>
              <a:rPr lang="en-US" dirty="0" err="1"/>
              <a:t>NaN</a:t>
            </a:r>
            <a:endParaRPr lang="en-US" dirty="0"/>
          </a:p>
          <a:p>
            <a:r>
              <a:rPr lang="en-US" dirty="0"/>
              <a:t>Common: number, string, </a:t>
            </a:r>
            <a:r>
              <a:rPr lang="en-US" dirty="0" err="1"/>
              <a:t>boolean</a:t>
            </a:r>
            <a:r>
              <a:rPr lang="en-US" dirty="0"/>
              <a:t>, even table and function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B3240F-65BD-547F-BD4F-3DF3FDA27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 Indices</a:t>
            </a:r>
          </a:p>
        </p:txBody>
      </p:sp>
    </p:spTree>
    <p:extLst>
      <p:ext uri="{BB962C8B-B14F-4D97-AF65-F5344CB8AC3E}">
        <p14:creationId xmlns:p14="http://schemas.microsoft.com/office/powerpoint/2010/main" val="3300128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95E44-DFC6-A621-02E2-F0DA08FD3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E83B1D-F509-4957-1998-615C343E852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Keys must not be nil or </a:t>
            </a:r>
            <a:r>
              <a:rPr lang="en-US" dirty="0" err="1"/>
              <a:t>NaN</a:t>
            </a:r>
            <a:r>
              <a:rPr lang="en-US" dirty="0"/>
              <a:t>:</a:t>
            </a:r>
          </a:p>
          <a:p>
            <a:r>
              <a:rPr lang="en-IN" dirty="0"/>
              <a:t>local t = {}</a:t>
            </a:r>
          </a:p>
          <a:p>
            <a:r>
              <a:rPr lang="en-IN" dirty="0"/>
              <a:t>t[nil] = "X"    -- ❌ Error</a:t>
            </a:r>
          </a:p>
          <a:p>
            <a:r>
              <a:rPr lang="en-IN" dirty="0"/>
              <a:t>t[0/0] = "Y"    -- ❌ </a:t>
            </a:r>
            <a:r>
              <a:rPr lang="en-IN" dirty="0" err="1"/>
              <a:t>NaN</a:t>
            </a:r>
            <a:r>
              <a:rPr lang="en-IN" dirty="0"/>
              <a:t>: invalid</a:t>
            </a:r>
          </a:p>
          <a:p>
            <a:r>
              <a:rPr lang="en-US" dirty="0"/>
              <a:t>You can overwrite values with same keys:</a:t>
            </a:r>
          </a:p>
          <a:p>
            <a:r>
              <a:rPr lang="en-IN" dirty="0">
                <a:highlight>
                  <a:srgbClr val="FF0000"/>
                </a:highlight>
              </a:rPr>
              <a:t>local t = { a = 1, a = 2 }  -- Final value: a = 2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89B2F-AF67-A4C8-F274-F9889603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Important Index Rules</a:t>
            </a:r>
          </a:p>
        </p:txBody>
      </p:sp>
    </p:spTree>
    <p:extLst>
      <p:ext uri="{BB962C8B-B14F-4D97-AF65-F5344CB8AC3E}">
        <p14:creationId xmlns:p14="http://schemas.microsoft.com/office/powerpoint/2010/main" val="2050359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EF171-34AA-E8F8-411C-157FB1A26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5D64A-2226-CB3F-D7BE-6116B854D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C12E3C-27E5-C92E-078A-13CCA24AA628}"/>
              </a:ext>
            </a:extLst>
          </p:cNvPr>
          <p:cNvSpPr txBox="1"/>
          <p:nvPr/>
        </p:nvSpPr>
        <p:spPr>
          <a:xfrm>
            <a:off x="838200" y="1524000"/>
            <a:ext cx="7239000" cy="34163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-- Empty table</a:t>
            </a:r>
          </a:p>
          <a:p>
            <a:r>
              <a:rPr lang="en-US" b="1" dirty="0"/>
              <a:t>local t = {}</a:t>
            </a:r>
          </a:p>
          <a:p>
            <a:endParaRPr lang="en-US" b="1" dirty="0"/>
          </a:p>
          <a:p>
            <a:r>
              <a:rPr lang="en-US" b="1" dirty="0"/>
              <a:t>-- With values</a:t>
            </a:r>
          </a:p>
          <a:p>
            <a:r>
              <a:rPr lang="en-US" b="1" dirty="0"/>
              <a:t>local t2 = { "apple", "banana", "cherry" }</a:t>
            </a:r>
          </a:p>
          <a:p>
            <a:endParaRPr lang="en-US" b="1" dirty="0"/>
          </a:p>
          <a:p>
            <a:r>
              <a:rPr lang="en-US" b="1" dirty="0"/>
              <a:t>-- Key-value table (like a dictionary)</a:t>
            </a:r>
          </a:p>
          <a:p>
            <a:r>
              <a:rPr lang="en-US" b="1" dirty="0"/>
              <a:t>local t3 = {</a:t>
            </a:r>
          </a:p>
          <a:p>
            <a:r>
              <a:rPr lang="en-US" b="1" dirty="0"/>
              <a:t>  name = "Alice",</a:t>
            </a:r>
          </a:p>
          <a:p>
            <a:r>
              <a:rPr lang="en-US" b="1" dirty="0"/>
              <a:t>  age = 30,</a:t>
            </a:r>
          </a:p>
          <a:p>
            <a:r>
              <a:rPr lang="en-US" b="1" dirty="0"/>
              <a:t>  city = "Chennai"</a:t>
            </a:r>
          </a:p>
          <a:p>
            <a:r>
              <a:rPr lang="en-US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01705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DA854-E241-AF8F-278E-98C3C31A9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EBC13-ED74-7595-0B90-DFB380487A0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For array-style:</a:t>
            </a:r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, v in </a:t>
            </a:r>
            <a:r>
              <a:rPr lang="en-US" dirty="0" err="1"/>
              <a:t>ipairs</a:t>
            </a:r>
            <a:r>
              <a:rPr lang="en-US" dirty="0"/>
              <a:t>(fruits) do</a:t>
            </a:r>
          </a:p>
          <a:p>
            <a:r>
              <a:rPr lang="en-US" dirty="0"/>
              <a:t>  print(</a:t>
            </a:r>
            <a:r>
              <a:rPr lang="en-US" dirty="0" err="1"/>
              <a:t>i</a:t>
            </a:r>
            <a:r>
              <a:rPr lang="en-US" dirty="0"/>
              <a:t>, v)</a:t>
            </a:r>
          </a:p>
          <a:p>
            <a:r>
              <a:rPr lang="en-US" dirty="0"/>
              <a:t>end</a:t>
            </a:r>
          </a:p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B7E462-DFB5-86B6-317D-D35DEAAFC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Tables Iteration</a:t>
            </a:r>
          </a:p>
        </p:txBody>
      </p:sp>
    </p:spTree>
    <p:extLst>
      <p:ext uri="{BB962C8B-B14F-4D97-AF65-F5344CB8AC3E}">
        <p14:creationId xmlns:p14="http://schemas.microsoft.com/office/powerpoint/2010/main" val="2894445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8B0A37-1CF2-38C8-95F4-975091C8091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447675"/>
          </a:xfrm>
        </p:spPr>
        <p:txBody>
          <a:bodyPr/>
          <a:lstStyle/>
          <a:p>
            <a:r>
              <a:rPr lang="en-US" b="1" dirty="0"/>
              <a:t>Lua arrays start at index 1 (not 0):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442BEB-4BFA-AE77-937C-D0CBB441D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Tables as Arrays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17087C-3502-F559-77C9-9DB9E2B3FA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166" t="10000" r="9167" b="43333"/>
          <a:stretch>
            <a:fillRect/>
          </a:stretch>
        </p:blipFill>
        <p:spPr>
          <a:xfrm>
            <a:off x="468676" y="2057400"/>
            <a:ext cx="8444774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721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28FD4AB-35E5-A2FD-1B09-1167D3E7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 as Dictionary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80CF26-300E-2D68-E3CC-1EB396F7C3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833" t="4667" r="6667" b="36666"/>
          <a:stretch>
            <a:fillRect/>
          </a:stretch>
        </p:blipFill>
        <p:spPr>
          <a:xfrm>
            <a:off x="461034" y="1600200"/>
            <a:ext cx="8276359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893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FD76E5-8E20-B71E-A5B5-F4667B852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 as Objects (with functions)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AB60F2-F430-BC42-72D6-F7FFB60ECB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67" t="4666" r="6964" b="34944"/>
          <a:stretch>
            <a:fillRect/>
          </a:stretch>
        </p:blipFill>
        <p:spPr>
          <a:xfrm>
            <a:off x="557479" y="1524000"/>
            <a:ext cx="7873449" cy="4876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7E270B5-DEB9-1A98-9280-882B24090F74}"/>
                  </a:ext>
                </a:extLst>
              </p14:cNvPr>
              <p14:cNvContentPartPr/>
              <p14:nvPr/>
            </p14:nvContentPartPr>
            <p14:xfrm>
              <a:off x="6333404" y="3608962"/>
              <a:ext cx="770400" cy="1319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7E270B5-DEB9-1A98-9280-882B24090F7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27284" y="3602842"/>
                <a:ext cx="782640" cy="133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7739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AED8E7-2321-0E50-5A0B-BF8468F0216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 err="1"/>
              <a:t>metatable</a:t>
            </a:r>
            <a:r>
              <a:rPr lang="en-US" dirty="0"/>
              <a:t> is a table that </a:t>
            </a:r>
            <a:r>
              <a:rPr lang="en-US" b="1" dirty="0"/>
              <a:t>defines how another table behaves</a:t>
            </a:r>
            <a:r>
              <a:rPr lang="en-US" dirty="0"/>
              <a:t> in special situations, like:</a:t>
            </a:r>
          </a:p>
          <a:p>
            <a:pPr lvl="1"/>
            <a:r>
              <a:rPr lang="en-US" dirty="0"/>
              <a:t>Adding two tables</a:t>
            </a:r>
          </a:p>
          <a:p>
            <a:pPr lvl="1"/>
            <a:r>
              <a:rPr lang="en-US" dirty="0"/>
              <a:t>Accessing a missing field</a:t>
            </a:r>
          </a:p>
          <a:p>
            <a:pPr lvl="1"/>
            <a:r>
              <a:rPr lang="en-US" dirty="0"/>
              <a:t>Making a table callable like a function</a:t>
            </a:r>
          </a:p>
          <a:p>
            <a:r>
              <a:rPr lang="en-US" dirty="0"/>
              <a:t>Used to add behavior like operator overloading, default values, or OO-like features.</a:t>
            </a:r>
          </a:p>
          <a:p>
            <a:pPr lvl="1"/>
            <a:endParaRPr lang="en-US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4EFBA6-D349-F4F7-4206-6DA916E72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MetaTable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6128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A513B-6FFA-F6BC-82A0-C9B5E22FD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99A3DB-5D60-0756-A93B-85BEF40A28D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523875"/>
          </a:xfrm>
        </p:spPr>
        <p:txBody>
          <a:bodyPr/>
          <a:lstStyle/>
          <a:p>
            <a:r>
              <a:rPr lang="en-US" dirty="0"/>
              <a:t>__index as a table (default values) – Missing Index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773651-38E4-44D9-AB80-48DF2EE55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Meta tables Missing Index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BE821F-68A3-1EFA-1A45-0DD8C6379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933074"/>
            <a:ext cx="6411220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103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D9870-1281-EC82-6A62-B04D93886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0200CF-2C5B-D639-7C7A-991D77A95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Meta tables addition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418B08-198B-0F50-CD23-7D99C9EFCEF4}"/>
              </a:ext>
            </a:extLst>
          </p:cNvPr>
          <p:cNvSpPr txBox="1"/>
          <p:nvPr/>
        </p:nvSpPr>
        <p:spPr>
          <a:xfrm>
            <a:off x="482692" y="1524000"/>
            <a:ext cx="8205261" cy="480131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function </a:t>
            </a:r>
            <a:r>
              <a:rPr lang="en-IN" dirty="0" err="1"/>
              <a:t>newMatrix</a:t>
            </a:r>
            <a:r>
              <a:rPr lang="en-IN" dirty="0"/>
              <a:t>(a, b)</a:t>
            </a:r>
          </a:p>
          <a:p>
            <a:r>
              <a:rPr lang="en-IN" dirty="0"/>
              <a:t>  local mat = { a = a, b = b }</a:t>
            </a:r>
          </a:p>
          <a:p>
            <a:endParaRPr lang="en-IN" dirty="0"/>
          </a:p>
          <a:p>
            <a:r>
              <a:rPr lang="en-IN" dirty="0"/>
              <a:t>  local </a:t>
            </a:r>
            <a:r>
              <a:rPr lang="en-IN" dirty="0" err="1"/>
              <a:t>mt</a:t>
            </a:r>
            <a:r>
              <a:rPr lang="en-IN" dirty="0"/>
              <a:t> = {</a:t>
            </a:r>
          </a:p>
          <a:p>
            <a:r>
              <a:rPr lang="en-IN" dirty="0"/>
              <a:t>    __add = function(m1, m2)</a:t>
            </a:r>
          </a:p>
          <a:p>
            <a:r>
              <a:rPr lang="en-IN" dirty="0"/>
              <a:t>      return </a:t>
            </a:r>
            <a:r>
              <a:rPr lang="en-IN" dirty="0" err="1"/>
              <a:t>newMatrix</a:t>
            </a:r>
            <a:r>
              <a:rPr lang="en-IN" dirty="0"/>
              <a:t>(m1.a + m2.a, m1.b + m2.b)</a:t>
            </a:r>
          </a:p>
          <a:p>
            <a:r>
              <a:rPr lang="en-IN" dirty="0"/>
              <a:t>    end</a:t>
            </a:r>
          </a:p>
          <a:p>
            <a:r>
              <a:rPr lang="en-IN" dirty="0"/>
              <a:t>  }</a:t>
            </a:r>
          </a:p>
          <a:p>
            <a:endParaRPr lang="en-IN" dirty="0"/>
          </a:p>
          <a:p>
            <a:r>
              <a:rPr lang="en-IN" dirty="0"/>
              <a:t>  return </a:t>
            </a:r>
            <a:r>
              <a:rPr lang="en-IN" dirty="0" err="1"/>
              <a:t>setmetatable</a:t>
            </a:r>
            <a:r>
              <a:rPr lang="en-IN" dirty="0"/>
              <a:t>(mat, </a:t>
            </a:r>
            <a:r>
              <a:rPr lang="en-IN" dirty="0" err="1"/>
              <a:t>mt</a:t>
            </a:r>
            <a:r>
              <a:rPr lang="en-IN" dirty="0"/>
              <a:t>)</a:t>
            </a:r>
          </a:p>
          <a:p>
            <a:r>
              <a:rPr lang="en-IN" dirty="0"/>
              <a:t>end</a:t>
            </a:r>
          </a:p>
          <a:p>
            <a:endParaRPr lang="en-IN" dirty="0"/>
          </a:p>
          <a:p>
            <a:r>
              <a:rPr lang="en-IN" dirty="0"/>
              <a:t>local m1 = </a:t>
            </a:r>
            <a:r>
              <a:rPr lang="en-IN" dirty="0" err="1"/>
              <a:t>newMatrix</a:t>
            </a:r>
            <a:r>
              <a:rPr lang="en-IN" dirty="0"/>
              <a:t>(10, 20)</a:t>
            </a:r>
          </a:p>
          <a:p>
            <a:r>
              <a:rPr lang="en-IN" dirty="0"/>
              <a:t>local m2 = </a:t>
            </a:r>
            <a:r>
              <a:rPr lang="en-IN" dirty="0" err="1"/>
              <a:t>newMatrix</a:t>
            </a:r>
            <a:r>
              <a:rPr lang="en-IN" dirty="0"/>
              <a:t>(1, 2)</a:t>
            </a:r>
          </a:p>
          <a:p>
            <a:r>
              <a:rPr lang="en-IN" dirty="0"/>
              <a:t>local m3 = m1 + m2</a:t>
            </a:r>
          </a:p>
          <a:p>
            <a:endParaRPr lang="en-IN" dirty="0"/>
          </a:p>
          <a:p>
            <a:r>
              <a:rPr lang="en-IN" dirty="0"/>
              <a:t>print(m3.a, m3.b)  --&gt; 11  22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6D0407F-038C-4491-4E9A-04CCA5A29ED0}"/>
                  </a:ext>
                </a:extLst>
              </p14:cNvPr>
              <p14:cNvContentPartPr/>
              <p14:nvPr/>
            </p14:nvContentPartPr>
            <p14:xfrm>
              <a:off x="3841124" y="4543162"/>
              <a:ext cx="684000" cy="1566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6D0407F-038C-4491-4E9A-04CCA5A29ED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35004" y="4537042"/>
                <a:ext cx="696240" cy="157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6582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6F106A-441C-623C-9A0D-105FA8727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Extend to Other Operators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A9A71B-BAD8-6E2B-9224-6B87E1AF1C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917832"/>
              </p:ext>
            </p:extLst>
          </p:nvPr>
        </p:nvGraphicFramePr>
        <p:xfrm>
          <a:off x="1173988" y="1381125"/>
          <a:ext cx="6794437" cy="482441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843816">
                  <a:extLst>
                    <a:ext uri="{9D8B030D-6E8A-4147-A177-3AD203B41FA5}">
                      <a16:colId xmlns:a16="http://schemas.microsoft.com/office/drawing/2014/main" val="2593736819"/>
                    </a:ext>
                  </a:extLst>
                </a:gridCol>
                <a:gridCol w="2950621">
                  <a:extLst>
                    <a:ext uri="{9D8B030D-6E8A-4147-A177-3AD203B41FA5}">
                      <a16:colId xmlns:a16="http://schemas.microsoft.com/office/drawing/2014/main" val="4174997366"/>
                    </a:ext>
                  </a:extLst>
                </a:gridCol>
              </a:tblGrid>
              <a:tr h="603052">
                <a:tc>
                  <a:txBody>
                    <a:bodyPr/>
                    <a:lstStyle/>
                    <a:p>
                      <a:r>
                        <a:rPr lang="en-IN" sz="2700"/>
                        <a:t>Metamethod</a:t>
                      </a:r>
                    </a:p>
                  </a:txBody>
                  <a:tcPr marL="137057" marR="137057" marT="68529" marB="68529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Operator</a:t>
                      </a:r>
                    </a:p>
                  </a:txBody>
                  <a:tcPr marL="137057" marR="137057" marT="68529" marB="68529" anchor="ctr"/>
                </a:tc>
                <a:extLst>
                  <a:ext uri="{0D108BD9-81ED-4DB2-BD59-A6C34878D82A}">
                    <a16:rowId xmlns:a16="http://schemas.microsoft.com/office/drawing/2014/main" val="2640268192"/>
                  </a:ext>
                </a:extLst>
              </a:tr>
              <a:tr h="603052">
                <a:tc>
                  <a:txBody>
                    <a:bodyPr/>
                    <a:lstStyle/>
                    <a:p>
                      <a:r>
                        <a:rPr lang="en-IN" sz="2700"/>
                        <a:t>__add</a:t>
                      </a:r>
                    </a:p>
                  </a:txBody>
                  <a:tcPr marL="137057" marR="137057" marT="68529" marB="68529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+</a:t>
                      </a:r>
                    </a:p>
                  </a:txBody>
                  <a:tcPr marL="137057" marR="137057" marT="68529" marB="68529" anchor="ctr"/>
                </a:tc>
                <a:extLst>
                  <a:ext uri="{0D108BD9-81ED-4DB2-BD59-A6C34878D82A}">
                    <a16:rowId xmlns:a16="http://schemas.microsoft.com/office/drawing/2014/main" val="3188593840"/>
                  </a:ext>
                </a:extLst>
              </a:tr>
              <a:tr h="603052">
                <a:tc>
                  <a:txBody>
                    <a:bodyPr/>
                    <a:lstStyle/>
                    <a:p>
                      <a:r>
                        <a:rPr lang="en-IN" sz="2700"/>
                        <a:t>__sub</a:t>
                      </a:r>
                    </a:p>
                  </a:txBody>
                  <a:tcPr marL="137057" marR="137057" marT="68529" marB="68529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-</a:t>
                      </a:r>
                    </a:p>
                  </a:txBody>
                  <a:tcPr marL="137057" marR="137057" marT="68529" marB="68529" anchor="ctr"/>
                </a:tc>
                <a:extLst>
                  <a:ext uri="{0D108BD9-81ED-4DB2-BD59-A6C34878D82A}">
                    <a16:rowId xmlns:a16="http://schemas.microsoft.com/office/drawing/2014/main" val="1188179203"/>
                  </a:ext>
                </a:extLst>
              </a:tr>
              <a:tr h="603052">
                <a:tc>
                  <a:txBody>
                    <a:bodyPr/>
                    <a:lstStyle/>
                    <a:p>
                      <a:r>
                        <a:rPr lang="en-IN" sz="2700"/>
                        <a:t>__mul</a:t>
                      </a:r>
                    </a:p>
                  </a:txBody>
                  <a:tcPr marL="137057" marR="137057" marT="68529" marB="68529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*</a:t>
                      </a:r>
                    </a:p>
                  </a:txBody>
                  <a:tcPr marL="137057" marR="137057" marT="68529" marB="68529" anchor="ctr"/>
                </a:tc>
                <a:extLst>
                  <a:ext uri="{0D108BD9-81ED-4DB2-BD59-A6C34878D82A}">
                    <a16:rowId xmlns:a16="http://schemas.microsoft.com/office/drawing/2014/main" val="775097732"/>
                  </a:ext>
                </a:extLst>
              </a:tr>
              <a:tr h="603052">
                <a:tc>
                  <a:txBody>
                    <a:bodyPr/>
                    <a:lstStyle/>
                    <a:p>
                      <a:r>
                        <a:rPr lang="en-IN" sz="2700"/>
                        <a:t>__div</a:t>
                      </a:r>
                    </a:p>
                  </a:txBody>
                  <a:tcPr marL="137057" marR="137057" marT="68529" marB="68529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/</a:t>
                      </a:r>
                    </a:p>
                  </a:txBody>
                  <a:tcPr marL="137057" marR="137057" marT="68529" marB="68529" anchor="ctr"/>
                </a:tc>
                <a:extLst>
                  <a:ext uri="{0D108BD9-81ED-4DB2-BD59-A6C34878D82A}">
                    <a16:rowId xmlns:a16="http://schemas.microsoft.com/office/drawing/2014/main" val="231520652"/>
                  </a:ext>
                </a:extLst>
              </a:tr>
              <a:tr h="603052">
                <a:tc>
                  <a:txBody>
                    <a:bodyPr/>
                    <a:lstStyle/>
                    <a:p>
                      <a:r>
                        <a:rPr lang="en-IN" sz="2700"/>
                        <a:t>__mod</a:t>
                      </a:r>
                    </a:p>
                  </a:txBody>
                  <a:tcPr marL="137057" marR="137057" marT="68529" marB="68529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%</a:t>
                      </a:r>
                    </a:p>
                  </a:txBody>
                  <a:tcPr marL="137057" marR="137057" marT="68529" marB="68529" anchor="ctr"/>
                </a:tc>
                <a:extLst>
                  <a:ext uri="{0D108BD9-81ED-4DB2-BD59-A6C34878D82A}">
                    <a16:rowId xmlns:a16="http://schemas.microsoft.com/office/drawing/2014/main" val="605417202"/>
                  </a:ext>
                </a:extLst>
              </a:tr>
              <a:tr h="603052">
                <a:tc>
                  <a:txBody>
                    <a:bodyPr/>
                    <a:lstStyle/>
                    <a:p>
                      <a:r>
                        <a:rPr lang="en-IN" sz="2700"/>
                        <a:t>__pow</a:t>
                      </a:r>
                    </a:p>
                  </a:txBody>
                  <a:tcPr marL="137057" marR="137057" marT="68529" marB="68529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^</a:t>
                      </a:r>
                    </a:p>
                  </a:txBody>
                  <a:tcPr marL="137057" marR="137057" marT="68529" marB="68529" anchor="ctr"/>
                </a:tc>
                <a:extLst>
                  <a:ext uri="{0D108BD9-81ED-4DB2-BD59-A6C34878D82A}">
                    <a16:rowId xmlns:a16="http://schemas.microsoft.com/office/drawing/2014/main" val="2530900115"/>
                  </a:ext>
                </a:extLst>
              </a:tr>
              <a:tr h="603052">
                <a:tc>
                  <a:txBody>
                    <a:bodyPr/>
                    <a:lstStyle/>
                    <a:p>
                      <a:r>
                        <a:rPr lang="en-IN" sz="2700"/>
                        <a:t>__unm</a:t>
                      </a:r>
                    </a:p>
                  </a:txBody>
                  <a:tcPr marL="137057" marR="137057" marT="68529" marB="68529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Unary -</a:t>
                      </a:r>
                    </a:p>
                  </a:txBody>
                  <a:tcPr marL="137057" marR="137057" marT="68529" marB="68529" anchor="ctr"/>
                </a:tc>
                <a:extLst>
                  <a:ext uri="{0D108BD9-81ED-4DB2-BD59-A6C34878D82A}">
                    <a16:rowId xmlns:a16="http://schemas.microsoft.com/office/drawing/2014/main" val="2639994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5234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4B464E-65C9-5621-AF84-4ECD0FF85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Read-only table (__</a:t>
            </a:r>
            <a:r>
              <a:rPr lang="en-IN" dirty="0" err="1"/>
              <a:t>newindex</a:t>
            </a:r>
            <a:r>
              <a:rPr lang="en-IN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CFD443-333D-54A5-895B-8F551AC25E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00" t="10000" r="21666" b="40666"/>
          <a:stretch>
            <a:fillRect/>
          </a:stretch>
        </p:blipFill>
        <p:spPr>
          <a:xfrm>
            <a:off x="685800" y="1524000"/>
            <a:ext cx="7411995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481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AD00D-17E4-1D30-42C3-B00B7E98B74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 sequence is a table with positive integer keys starting from 1, with no gaps (i.e., t[1], t[2], ..., t[n], where n = #t).</a:t>
            </a:r>
          </a:p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0E8361-9574-D243-39A7-1DA7D9042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Sequence in Lua?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4517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004C4-54C3-85D0-C954-4CB28B0EE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7F5DE-E43E-3F3D-79DC-A408CDF2A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Sequence in Lua?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AE5ADC-CDF8-934E-00F7-601E132C6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88" y="1447800"/>
            <a:ext cx="8215607" cy="4876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A04FC81-8E32-B88C-4ACE-E8C65CEFBD46}"/>
                  </a:ext>
                </a:extLst>
              </p14:cNvPr>
              <p14:cNvContentPartPr/>
              <p14:nvPr/>
            </p14:nvContentPartPr>
            <p14:xfrm>
              <a:off x="885164" y="6275122"/>
              <a:ext cx="5180040" cy="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A04FC81-8E32-B88C-4ACE-E8C65CEFBD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9044" y="6262882"/>
                <a:ext cx="51922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CD97F05-839E-330C-3CF1-2F6DBF99F821}"/>
                  </a:ext>
                </a:extLst>
              </p14:cNvPr>
              <p14:cNvContentPartPr/>
              <p14:nvPr/>
            </p14:nvContentPartPr>
            <p14:xfrm>
              <a:off x="277484" y="5619562"/>
              <a:ext cx="5824800" cy="705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CD97F05-839E-330C-3CF1-2F6DBF99F82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1364" y="5613442"/>
                <a:ext cx="5837040" cy="71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90225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BD2E6-7291-37AA-3E00-74B898401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4B65C-AC70-9BE6-4B07-690DA7D1A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Sequence in Lua?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F10066-40BA-A18F-128A-B2C7D8BE3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65306"/>
            <a:ext cx="6535062" cy="35342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7E47CA-C566-15AD-35E3-96A66B3EFE0E}"/>
              </a:ext>
            </a:extLst>
          </p:cNvPr>
          <p:cNvSpPr txBox="1"/>
          <p:nvPr/>
        </p:nvSpPr>
        <p:spPr>
          <a:xfrm>
            <a:off x="914400" y="5292694"/>
            <a:ext cx="6306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#bad and </a:t>
            </a:r>
            <a:r>
              <a:rPr lang="en-US" dirty="0" err="1"/>
              <a:t>ipairs</a:t>
            </a:r>
            <a:r>
              <a:rPr lang="en-US" dirty="0"/>
              <a:t>(bad) stop at the first nil, so they're unreliable for non-continuous integer keys.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9207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648CBAB-9634-4C23-C5C8-6D7FED361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US" dirty="0"/>
              <a:t>Useful Functions for Sequences (from table module)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102C3F-4EEE-5538-17DF-04892F17FA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940438"/>
              </p:ext>
            </p:extLst>
          </p:nvPr>
        </p:nvGraphicFramePr>
        <p:xfrm>
          <a:off x="457201" y="1531279"/>
          <a:ext cx="8228013" cy="452410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305334">
                  <a:extLst>
                    <a:ext uri="{9D8B030D-6E8A-4147-A177-3AD203B41FA5}">
                      <a16:colId xmlns:a16="http://schemas.microsoft.com/office/drawing/2014/main" val="415604217"/>
                    </a:ext>
                  </a:extLst>
                </a:gridCol>
                <a:gridCol w="4922679">
                  <a:extLst>
                    <a:ext uri="{9D8B030D-6E8A-4147-A177-3AD203B41FA5}">
                      <a16:colId xmlns:a16="http://schemas.microsoft.com/office/drawing/2014/main" val="2898899398"/>
                    </a:ext>
                  </a:extLst>
                </a:gridCol>
              </a:tblGrid>
              <a:tr h="588937">
                <a:tc>
                  <a:txBody>
                    <a:bodyPr/>
                    <a:lstStyle/>
                    <a:p>
                      <a:r>
                        <a:rPr lang="en-IN" sz="2600"/>
                        <a:t>Function</a:t>
                      </a:r>
                    </a:p>
                  </a:txBody>
                  <a:tcPr marL="133849" marR="133849" marT="66925" marB="66925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Purpose</a:t>
                      </a:r>
                    </a:p>
                  </a:txBody>
                  <a:tcPr marL="133849" marR="133849" marT="66925" marB="66925" anchor="ctr"/>
                </a:tc>
                <a:extLst>
                  <a:ext uri="{0D108BD9-81ED-4DB2-BD59-A6C34878D82A}">
                    <a16:rowId xmlns:a16="http://schemas.microsoft.com/office/drawing/2014/main" val="3529588651"/>
                  </a:ext>
                </a:extLst>
              </a:tr>
              <a:tr h="990485">
                <a:tc>
                  <a:txBody>
                    <a:bodyPr/>
                    <a:lstStyle/>
                    <a:p>
                      <a:r>
                        <a:rPr lang="en-IN" sz="2600"/>
                        <a:t>#t</a:t>
                      </a:r>
                    </a:p>
                  </a:txBody>
                  <a:tcPr marL="133849" marR="133849" marT="66925" marB="66925" anchor="ctr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Length of sequence (consecutive keys)</a:t>
                      </a:r>
                    </a:p>
                  </a:txBody>
                  <a:tcPr marL="133849" marR="133849" marT="66925" marB="66925" anchor="ctr"/>
                </a:tc>
                <a:extLst>
                  <a:ext uri="{0D108BD9-81ED-4DB2-BD59-A6C34878D82A}">
                    <a16:rowId xmlns:a16="http://schemas.microsoft.com/office/drawing/2014/main" val="1291169440"/>
                  </a:ext>
                </a:extLst>
              </a:tr>
              <a:tr h="588937">
                <a:tc>
                  <a:txBody>
                    <a:bodyPr/>
                    <a:lstStyle/>
                    <a:p>
                      <a:r>
                        <a:rPr lang="en-IN" sz="2600"/>
                        <a:t>ipairs(t)</a:t>
                      </a:r>
                    </a:p>
                  </a:txBody>
                  <a:tcPr marL="133849" marR="133849" marT="66925" marB="66925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Iterates over sequence safely</a:t>
                      </a:r>
                    </a:p>
                  </a:txBody>
                  <a:tcPr marL="133849" marR="133849" marT="66925" marB="66925" anchor="ctr"/>
                </a:tc>
                <a:extLst>
                  <a:ext uri="{0D108BD9-81ED-4DB2-BD59-A6C34878D82A}">
                    <a16:rowId xmlns:a16="http://schemas.microsoft.com/office/drawing/2014/main" val="1729486089"/>
                  </a:ext>
                </a:extLst>
              </a:tr>
              <a:tr h="588937">
                <a:tc>
                  <a:txBody>
                    <a:bodyPr/>
                    <a:lstStyle/>
                    <a:p>
                      <a:r>
                        <a:rPr lang="en-IN" sz="2600"/>
                        <a:t>table.insert(t, v)</a:t>
                      </a:r>
                    </a:p>
                  </a:txBody>
                  <a:tcPr marL="133849" marR="133849" marT="66925" marB="66925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Adds v at end</a:t>
                      </a:r>
                    </a:p>
                  </a:txBody>
                  <a:tcPr marL="133849" marR="133849" marT="66925" marB="66925" anchor="ctr"/>
                </a:tc>
                <a:extLst>
                  <a:ext uri="{0D108BD9-81ED-4DB2-BD59-A6C34878D82A}">
                    <a16:rowId xmlns:a16="http://schemas.microsoft.com/office/drawing/2014/main" val="3147494342"/>
                  </a:ext>
                </a:extLst>
              </a:tr>
              <a:tr h="588937">
                <a:tc>
                  <a:txBody>
                    <a:bodyPr/>
                    <a:lstStyle/>
                    <a:p>
                      <a:r>
                        <a:rPr lang="en-IN" sz="2600"/>
                        <a:t>table.remove(t, i)</a:t>
                      </a:r>
                    </a:p>
                  </a:txBody>
                  <a:tcPr marL="133849" marR="133849" marT="66925" marB="66925" anchor="ctr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Removes index i, shifts others</a:t>
                      </a:r>
                    </a:p>
                  </a:txBody>
                  <a:tcPr marL="133849" marR="133849" marT="66925" marB="66925" anchor="ctr"/>
                </a:tc>
                <a:extLst>
                  <a:ext uri="{0D108BD9-81ED-4DB2-BD59-A6C34878D82A}">
                    <a16:rowId xmlns:a16="http://schemas.microsoft.com/office/drawing/2014/main" val="377610412"/>
                  </a:ext>
                </a:extLst>
              </a:tr>
              <a:tr h="588937">
                <a:tc>
                  <a:txBody>
                    <a:bodyPr/>
                    <a:lstStyle/>
                    <a:p>
                      <a:r>
                        <a:rPr lang="en-IN" sz="2600"/>
                        <a:t>table.concat(t, sep)</a:t>
                      </a:r>
                    </a:p>
                  </a:txBody>
                  <a:tcPr marL="133849" marR="133849" marT="66925" marB="66925" anchor="ctr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Joins all values as string</a:t>
                      </a:r>
                    </a:p>
                  </a:txBody>
                  <a:tcPr marL="133849" marR="133849" marT="66925" marB="66925" anchor="ctr"/>
                </a:tc>
                <a:extLst>
                  <a:ext uri="{0D108BD9-81ED-4DB2-BD59-A6C34878D82A}">
                    <a16:rowId xmlns:a16="http://schemas.microsoft.com/office/drawing/2014/main" val="2205894293"/>
                  </a:ext>
                </a:extLst>
              </a:tr>
              <a:tr h="588937">
                <a:tc>
                  <a:txBody>
                    <a:bodyPr/>
                    <a:lstStyle/>
                    <a:p>
                      <a:r>
                        <a:rPr lang="en-IN" sz="2600"/>
                        <a:t>table.sort(t)</a:t>
                      </a:r>
                    </a:p>
                  </a:txBody>
                  <a:tcPr marL="133849" marR="133849" marT="66925" marB="66925" anchor="ctr"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Sorts values in-place</a:t>
                      </a:r>
                    </a:p>
                  </a:txBody>
                  <a:tcPr marL="133849" marR="133849" marT="66925" marB="66925" anchor="ctr"/>
                </a:tc>
                <a:extLst>
                  <a:ext uri="{0D108BD9-81ED-4DB2-BD59-A6C34878D82A}">
                    <a16:rowId xmlns:a16="http://schemas.microsoft.com/office/drawing/2014/main" val="307298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00524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B16A5F-F212-4959-2FB4-91CD1B29D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 Sort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4EAA4A-F1AB-5016-D096-3480517610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243" t="6111" r="19697" b="47272"/>
          <a:stretch>
            <a:fillRect/>
          </a:stretch>
        </p:blipFill>
        <p:spPr>
          <a:xfrm>
            <a:off x="533399" y="1600200"/>
            <a:ext cx="8205261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0419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B1C7D-FF3F-042A-8B5E-1659058E6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C86F92-F44D-7B1F-E8B4-872DBDFAB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 Sort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FDFEFB-8888-588E-B614-B7C1436319B0}"/>
              </a:ext>
            </a:extLst>
          </p:cNvPr>
          <p:cNvSpPr txBox="1"/>
          <p:nvPr/>
        </p:nvSpPr>
        <p:spPr>
          <a:xfrm>
            <a:off x="1447800" y="2228671"/>
            <a:ext cx="5410200" cy="19389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dirty="0"/>
              <a:t>local names = { "Charlie", "Alice", "Bob" }</a:t>
            </a:r>
          </a:p>
          <a:p>
            <a:r>
              <a:rPr lang="en-IN" sz="2400" dirty="0" err="1"/>
              <a:t>table.sort</a:t>
            </a:r>
            <a:r>
              <a:rPr lang="en-IN" sz="2400" dirty="0"/>
              <a:t>(names)</a:t>
            </a:r>
          </a:p>
          <a:p>
            <a:endParaRPr lang="en-IN" sz="2400" dirty="0"/>
          </a:p>
          <a:p>
            <a:r>
              <a:rPr lang="en-IN" sz="2400" dirty="0"/>
              <a:t>-- Output: Alice, Bob, Charlie</a:t>
            </a:r>
          </a:p>
        </p:txBody>
      </p:sp>
    </p:spTree>
    <p:extLst>
      <p:ext uri="{BB962C8B-B14F-4D97-AF65-F5344CB8AC3E}">
        <p14:creationId xmlns:p14="http://schemas.microsoft.com/office/powerpoint/2010/main" val="9580695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AEDD6-1634-FA79-E451-F3FC5C9B7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E3C584-E29E-35BC-A666-131AD9AA6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 </a:t>
            </a:r>
            <a:r>
              <a:rPr lang="en-IN" dirty="0" err="1"/>
              <a:t>concat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F4EC53-FDDD-03E1-2552-6AC0864B81D3}"/>
              </a:ext>
            </a:extLst>
          </p:cNvPr>
          <p:cNvSpPr txBox="1"/>
          <p:nvPr/>
        </p:nvSpPr>
        <p:spPr>
          <a:xfrm>
            <a:off x="1447800" y="2228670"/>
            <a:ext cx="5257800" cy="230832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dirty="0"/>
              <a:t>local fruits = { "apple", "banana", "cherry" }</a:t>
            </a:r>
          </a:p>
          <a:p>
            <a:r>
              <a:rPr lang="en-IN" sz="2400" dirty="0"/>
              <a:t>local result = </a:t>
            </a:r>
            <a:r>
              <a:rPr lang="en-IN" sz="2400" dirty="0" err="1"/>
              <a:t>table.concat</a:t>
            </a:r>
            <a:r>
              <a:rPr lang="en-IN" sz="2400" dirty="0"/>
              <a:t>(fruits, ", ")</a:t>
            </a:r>
          </a:p>
          <a:p>
            <a:endParaRPr lang="en-IN" sz="2400" dirty="0"/>
          </a:p>
          <a:p>
            <a:r>
              <a:rPr lang="en-IN" sz="2400" dirty="0"/>
              <a:t>print(result)</a:t>
            </a:r>
          </a:p>
          <a:p>
            <a:r>
              <a:rPr lang="en-IN" sz="2400" dirty="0"/>
              <a:t>-- Output: apple, banana, cherry</a:t>
            </a:r>
          </a:p>
        </p:txBody>
      </p:sp>
    </p:spTree>
    <p:extLst>
      <p:ext uri="{BB962C8B-B14F-4D97-AF65-F5344CB8AC3E}">
        <p14:creationId xmlns:p14="http://schemas.microsoft.com/office/powerpoint/2010/main" val="18670311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BA81F6-9207-F99C-10D0-7DBA1BFEE2A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Safe navigation means accessing nested fields without errors, even if intermediate tables or keys are nil.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6E124C-5031-03A2-B230-61D4A1B15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Safe Navigation?</a:t>
            </a:r>
          </a:p>
        </p:txBody>
      </p:sp>
    </p:spTree>
    <p:extLst>
      <p:ext uri="{BB962C8B-B14F-4D97-AF65-F5344CB8AC3E}">
        <p14:creationId xmlns:p14="http://schemas.microsoft.com/office/powerpoint/2010/main" val="205757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C5AD23-019E-A004-4125-443726F6CBC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In Lua, </a:t>
            </a:r>
            <a:r>
              <a:rPr lang="en-US" b="1" dirty="0"/>
              <a:t>functions</a:t>
            </a:r>
            <a:r>
              <a:rPr lang="en-US" dirty="0"/>
              <a:t> are </a:t>
            </a:r>
            <a:r>
              <a:rPr lang="en-US" b="1" dirty="0"/>
              <a:t>first-class values</a:t>
            </a:r>
            <a:r>
              <a:rPr lang="en-US" dirty="0"/>
              <a:t>, meaning you can:</a:t>
            </a:r>
          </a:p>
          <a:p>
            <a:pPr lvl="1"/>
            <a:r>
              <a:rPr lang="en-US" dirty="0"/>
              <a:t>Assign them to variables</a:t>
            </a:r>
          </a:p>
          <a:p>
            <a:pPr lvl="1"/>
            <a:r>
              <a:rPr lang="en-US" dirty="0"/>
              <a:t>Pass them as arguments</a:t>
            </a:r>
          </a:p>
          <a:p>
            <a:pPr lvl="1"/>
            <a:r>
              <a:rPr lang="en-US" dirty="0"/>
              <a:t>Return them from other functions</a:t>
            </a:r>
          </a:p>
          <a:p>
            <a:pPr lvl="1"/>
            <a:endParaRPr lang="en-IN" dirty="0"/>
          </a:p>
          <a:p>
            <a:pPr lvl="1"/>
            <a:endParaRPr lang="en-US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516834-DCCA-B264-8235-CDB020401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11474046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696FA-15A7-0CFF-78BA-305A9C889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8687EC-CAD5-969A-F16F-2AA566670DE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 Basics</a:t>
            </a:r>
          </a:p>
          <a:p>
            <a:r>
              <a:rPr lang="en-US" dirty="0"/>
              <a:t>Function with Parameters</a:t>
            </a:r>
          </a:p>
          <a:p>
            <a:r>
              <a:rPr lang="en-US" dirty="0"/>
              <a:t>Function with Return Values</a:t>
            </a:r>
          </a:p>
          <a:p>
            <a:r>
              <a:rPr lang="en-US" dirty="0"/>
              <a:t>Anonymous Functions (Lambdas)</a:t>
            </a:r>
          </a:p>
          <a:p>
            <a:r>
              <a:rPr lang="en-US" dirty="0"/>
              <a:t>Multiple Return Values</a:t>
            </a:r>
          </a:p>
          <a:p>
            <a:r>
              <a:rPr lang="en-US" dirty="0"/>
              <a:t>Variadic Functions (...) </a:t>
            </a:r>
          </a:p>
          <a:p>
            <a:r>
              <a:rPr lang="en-US" dirty="0"/>
              <a:t>Recursive Functions</a:t>
            </a:r>
          </a:p>
          <a:p>
            <a:r>
              <a:rPr lang="en-US" dirty="0"/>
              <a:t>Local vs Global Functions</a:t>
            </a:r>
          </a:p>
          <a:p>
            <a:r>
              <a:rPr lang="en-US" dirty="0"/>
              <a:t>Functions as Table Fields (Methods)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IN" dirty="0"/>
          </a:p>
          <a:p>
            <a:pPr lvl="1"/>
            <a:endParaRPr lang="en-US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3EF3D0-D3FB-A42C-E095-1B3C88D2A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functions</a:t>
            </a:r>
          </a:p>
        </p:txBody>
      </p:sp>
    </p:spTree>
    <p:extLst>
      <p:ext uri="{BB962C8B-B14F-4D97-AF65-F5344CB8AC3E}">
        <p14:creationId xmlns:p14="http://schemas.microsoft.com/office/powerpoint/2010/main" val="13977069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98553B-B0FF-1A8D-CF5C-31E32ADF4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Multiple Return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944750-2A94-8F43-B1F3-9CBDD94080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833" t="8666" r="24167" b="42000"/>
          <a:stretch>
            <a:fillRect/>
          </a:stretch>
        </p:blipFill>
        <p:spPr>
          <a:xfrm>
            <a:off x="685800" y="1676400"/>
            <a:ext cx="7391400" cy="455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2712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61340-3B2A-D300-7F85-835C28E51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BDE6F3-4862-F002-32FE-2580EE15A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Multiple Return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840F79-AF16-EAA3-DAA7-91EDE63590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833" t="6721" r="30000" b="47334"/>
          <a:stretch>
            <a:fillRect/>
          </a:stretch>
        </p:blipFill>
        <p:spPr>
          <a:xfrm>
            <a:off x="609600" y="1600200"/>
            <a:ext cx="7696200" cy="500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439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EBB244-A16A-D0AA-47C3-59C82AAF6AE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function </a:t>
            </a:r>
            <a:r>
              <a:rPr lang="en-IN" dirty="0" err="1"/>
              <a:t>formatCSV</a:t>
            </a:r>
            <a:r>
              <a:rPr lang="en-IN" dirty="0"/>
              <a:t>(...)</a:t>
            </a:r>
          </a:p>
          <a:p>
            <a:r>
              <a:rPr lang="en-IN" dirty="0"/>
              <a:t>  return </a:t>
            </a:r>
            <a:r>
              <a:rPr lang="en-IN" dirty="0" err="1"/>
              <a:t>table.concat</a:t>
            </a:r>
            <a:r>
              <a:rPr lang="en-IN" dirty="0"/>
              <a:t>({...}, ",")</a:t>
            </a:r>
          </a:p>
          <a:p>
            <a:r>
              <a:rPr lang="en-IN" dirty="0"/>
              <a:t>end</a:t>
            </a:r>
          </a:p>
          <a:p>
            <a:endParaRPr lang="en-IN" dirty="0"/>
          </a:p>
          <a:p>
            <a:r>
              <a:rPr lang="en-IN" dirty="0"/>
              <a:t>print(</a:t>
            </a:r>
            <a:r>
              <a:rPr lang="en-IN" dirty="0" err="1"/>
              <a:t>formatCSV</a:t>
            </a:r>
            <a:r>
              <a:rPr lang="en-IN" dirty="0"/>
              <a:t>("apple", "banana", "cherry"))  -- </a:t>
            </a:r>
            <a:r>
              <a:rPr lang="en-IN" dirty="0" err="1"/>
              <a:t>apple,banana,cherry</a:t>
            </a:r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918787-0503-6377-BAFC-61CCE669F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Variadic Function</a:t>
            </a:r>
          </a:p>
        </p:txBody>
      </p:sp>
    </p:spTree>
    <p:extLst>
      <p:ext uri="{BB962C8B-B14F-4D97-AF65-F5344CB8AC3E}">
        <p14:creationId xmlns:p14="http://schemas.microsoft.com/office/powerpoint/2010/main" val="19025760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D3435-7DBB-9853-5FEE-5B1F16987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F30466-D2B3-D0B0-7BF1-737C58B8C413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function log(...)</a:t>
            </a:r>
          </a:p>
          <a:p>
            <a:r>
              <a:rPr lang="en-IN" dirty="0"/>
              <a:t>  local </a:t>
            </a:r>
            <a:r>
              <a:rPr lang="en-IN" dirty="0" err="1"/>
              <a:t>args</a:t>
            </a:r>
            <a:r>
              <a:rPr lang="en-IN" dirty="0"/>
              <a:t> = {...}</a:t>
            </a:r>
          </a:p>
          <a:p>
            <a:r>
              <a:rPr lang="en-IN" dirty="0"/>
              <a:t>  print("[LOG]", </a:t>
            </a:r>
            <a:r>
              <a:rPr lang="en-IN" dirty="0" err="1"/>
              <a:t>table.concat</a:t>
            </a:r>
            <a:r>
              <a:rPr lang="en-IN" dirty="0"/>
              <a:t>(</a:t>
            </a:r>
            <a:r>
              <a:rPr lang="en-IN" dirty="0" err="1"/>
              <a:t>args</a:t>
            </a:r>
            <a:r>
              <a:rPr lang="en-IN" dirty="0"/>
              <a:t>, " "))</a:t>
            </a:r>
          </a:p>
          <a:p>
            <a:r>
              <a:rPr lang="en-IN" dirty="0"/>
              <a:t>end</a:t>
            </a:r>
          </a:p>
          <a:p>
            <a:endParaRPr lang="en-IN" dirty="0"/>
          </a:p>
          <a:p>
            <a:r>
              <a:rPr lang="en-IN" dirty="0"/>
              <a:t>log("User", "logged", "in", "at", </a:t>
            </a:r>
            <a:r>
              <a:rPr lang="en-IN" dirty="0" err="1"/>
              <a:t>os.date</a:t>
            </a:r>
            <a:r>
              <a:rPr lang="en-IN" dirty="0"/>
              <a:t>())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5EA1A3-D5D7-01C7-9B34-AB7AABC6B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Variadic Function</a:t>
            </a:r>
          </a:p>
        </p:txBody>
      </p:sp>
    </p:spTree>
    <p:extLst>
      <p:ext uri="{BB962C8B-B14F-4D97-AF65-F5344CB8AC3E}">
        <p14:creationId xmlns:p14="http://schemas.microsoft.com/office/powerpoint/2010/main" val="35079074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7F0419-BAD6-C3BA-4E55-5B5B208AE08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Returns all values from a table as separate arguments (like JS ...</a:t>
            </a:r>
            <a:r>
              <a:rPr lang="en-US" dirty="0" err="1"/>
              <a:t>arr</a:t>
            </a:r>
            <a:r>
              <a:rPr lang="en-US" dirty="0"/>
              <a:t> or Python *</a:t>
            </a:r>
            <a:r>
              <a:rPr lang="en-US" dirty="0" err="1"/>
              <a:t>args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sv-SE" dirty="0"/>
              <a:t>table.unpack(t [, i [, j]])</a:t>
            </a:r>
          </a:p>
          <a:p>
            <a:endParaRPr lang="sv-SE" dirty="0"/>
          </a:p>
          <a:p>
            <a:pPr lvl="1"/>
            <a:r>
              <a:rPr lang="en-US" dirty="0"/>
              <a:t>t: The table (usually a sequence)</a:t>
            </a:r>
          </a:p>
          <a:p>
            <a:pPr lvl="1"/>
            <a:r>
              <a:rPr lang="en-US" dirty="0"/>
              <a:t>i: Starting index (default 1)</a:t>
            </a:r>
          </a:p>
          <a:p>
            <a:pPr lvl="1"/>
            <a:r>
              <a:rPr lang="en-US" dirty="0"/>
              <a:t>j: Ending index (default #t)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1D1825-2A05-EC6B-03D1-CDB13CFC8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Table.unpack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60365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54BA1-3D1D-245F-D275-5D296481D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CB6672-3370-B66A-BC9F-076EABE501D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Unpack Simple</a:t>
            </a:r>
          </a:p>
          <a:p>
            <a:pPr lvl="1"/>
            <a:r>
              <a:rPr lang="en-US" dirty="0"/>
              <a:t>local t = {"Lua", "Rocks", 2024}</a:t>
            </a:r>
          </a:p>
          <a:p>
            <a:pPr lvl="1"/>
            <a:r>
              <a:rPr lang="en-US" dirty="0"/>
              <a:t>print(</a:t>
            </a:r>
            <a:r>
              <a:rPr lang="en-US" dirty="0" err="1"/>
              <a:t>table.unpack</a:t>
            </a:r>
            <a:r>
              <a:rPr lang="en-US" dirty="0"/>
              <a:t>(t))   --&gt; Lua  Rocks  2024</a:t>
            </a:r>
          </a:p>
          <a:p>
            <a:endParaRPr lang="en-US" dirty="0"/>
          </a:p>
          <a:p>
            <a:r>
              <a:rPr lang="en-US" dirty="0"/>
              <a:t>Unpack Subset</a:t>
            </a:r>
          </a:p>
          <a:p>
            <a:pPr lvl="1"/>
            <a:r>
              <a:rPr lang="fr-FR" dirty="0"/>
              <a:t>local t = {"a", "b", "c", "d"}</a:t>
            </a:r>
          </a:p>
          <a:p>
            <a:pPr lvl="1"/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table.unpack</a:t>
            </a:r>
            <a:r>
              <a:rPr lang="fr-FR" dirty="0"/>
              <a:t>(t, 2, 3))   --&gt; b  c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A708F5-45D6-2105-5DC5-C77D4C4C7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Table.unpack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74888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B07CE8-7438-FB5E-DE54-64619A76041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dirty="0"/>
              <a:t>What is a Tail Call?</a:t>
            </a:r>
          </a:p>
          <a:p>
            <a:r>
              <a:rPr lang="en-US" dirty="0"/>
              <a:t>A </a:t>
            </a:r>
            <a:r>
              <a:rPr lang="en-US" b="1" dirty="0"/>
              <a:t>tail call</a:t>
            </a:r>
            <a:r>
              <a:rPr lang="en-US" dirty="0"/>
              <a:t> is when a function </a:t>
            </a:r>
            <a:r>
              <a:rPr lang="en-US" b="1" dirty="0"/>
              <a:t>returns the result of another function directly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A30DFE-BFB1-A4AA-1496-54A10CC2C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 Tail Calls (PTC)</a:t>
            </a:r>
          </a:p>
        </p:txBody>
      </p:sp>
    </p:spTree>
    <p:extLst>
      <p:ext uri="{BB962C8B-B14F-4D97-AF65-F5344CB8AC3E}">
        <p14:creationId xmlns:p14="http://schemas.microsoft.com/office/powerpoint/2010/main" val="36527344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4B9595-A3B8-0B43-59B2-5256BE200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Example: Recursive Tail Call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AD076C5-87CE-C7AB-8163-A76BC9BF30EA}"/>
                  </a:ext>
                </a:extLst>
              </p14:cNvPr>
              <p14:cNvContentPartPr/>
              <p14:nvPr/>
            </p14:nvContentPartPr>
            <p14:xfrm>
              <a:off x="-1540156" y="1886362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AD076C5-87CE-C7AB-8163-A76BC9BF30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546276" y="1880242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E540C78-5133-E26B-AF20-46E00121384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9372" t="19078" r="20000" b="56768"/>
          <a:stretch>
            <a:fillRect/>
          </a:stretch>
        </p:blipFill>
        <p:spPr>
          <a:xfrm>
            <a:off x="533400" y="1981200"/>
            <a:ext cx="8055197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5876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00283-3D92-7AC0-3EB9-B6F62D95F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4EEBB1-DC4C-B011-6CC0-644152552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Example: Recursive Tail Call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4F4659-7B5A-C336-7031-701A79448C85}"/>
              </a:ext>
            </a:extLst>
          </p:cNvPr>
          <p:cNvSpPr txBox="1"/>
          <p:nvPr/>
        </p:nvSpPr>
        <p:spPr>
          <a:xfrm>
            <a:off x="461036" y="1291420"/>
            <a:ext cx="8378164" cy="48936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function route(path)</a:t>
            </a:r>
          </a:p>
          <a:p>
            <a:r>
              <a:rPr lang="en-US" sz="2400" dirty="0"/>
              <a:t>  if path == "/home" then return </a:t>
            </a:r>
            <a:r>
              <a:rPr lang="en-US" sz="2400" dirty="0" err="1"/>
              <a:t>show_home</a:t>
            </a:r>
            <a:r>
              <a:rPr lang="en-US" sz="2400" dirty="0"/>
              <a:t>()</a:t>
            </a:r>
          </a:p>
          <a:p>
            <a:r>
              <a:rPr lang="en-US" sz="2400" dirty="0"/>
              <a:t>  if path == "/login" then return </a:t>
            </a:r>
            <a:r>
              <a:rPr lang="en-US" sz="2400" dirty="0" err="1"/>
              <a:t>show_login</a:t>
            </a:r>
            <a:r>
              <a:rPr lang="en-US" sz="2400" dirty="0"/>
              <a:t>()</a:t>
            </a:r>
          </a:p>
          <a:p>
            <a:r>
              <a:rPr lang="en-US" sz="2400" dirty="0"/>
              <a:t>  return show_404()</a:t>
            </a:r>
          </a:p>
          <a:p>
            <a:r>
              <a:rPr lang="en-US" sz="2400" dirty="0"/>
              <a:t>end</a:t>
            </a:r>
          </a:p>
          <a:p>
            <a:r>
              <a:rPr lang="en-US" sz="2400" dirty="0"/>
              <a:t>function </a:t>
            </a:r>
            <a:r>
              <a:rPr lang="en-US" sz="2400" dirty="0" err="1"/>
              <a:t>show_home</a:t>
            </a:r>
            <a:r>
              <a:rPr lang="en-US" sz="2400" dirty="0"/>
              <a:t>()</a:t>
            </a:r>
          </a:p>
          <a:p>
            <a:r>
              <a:rPr lang="en-US" sz="2400" dirty="0"/>
              <a:t>  print("🏠 Home Page")</a:t>
            </a:r>
          </a:p>
          <a:p>
            <a:r>
              <a:rPr lang="en-US" sz="2400" dirty="0"/>
              <a:t>  return route("/login")  -- Tail call</a:t>
            </a:r>
          </a:p>
          <a:p>
            <a:r>
              <a:rPr lang="en-US" sz="2400" dirty="0"/>
              <a:t>end</a:t>
            </a:r>
          </a:p>
          <a:p>
            <a:r>
              <a:rPr lang="en-US" sz="2400" dirty="0"/>
              <a:t>function </a:t>
            </a:r>
            <a:r>
              <a:rPr lang="en-US" sz="2400" dirty="0" err="1"/>
              <a:t>show_login</a:t>
            </a:r>
            <a:r>
              <a:rPr lang="en-US" sz="2400" dirty="0"/>
              <a:t>()</a:t>
            </a:r>
          </a:p>
          <a:p>
            <a:r>
              <a:rPr lang="en-US" sz="2400" dirty="0"/>
              <a:t>  print("🔐 Login Page")</a:t>
            </a:r>
          </a:p>
          <a:p>
            <a:r>
              <a:rPr lang="en-US" sz="2400" dirty="0"/>
              <a:t>end</a:t>
            </a:r>
          </a:p>
          <a:p>
            <a:r>
              <a:rPr lang="en-US" sz="2400" dirty="0"/>
              <a:t>route("/home")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C1592C3-DBD3-6B92-CB70-003903A90E8D}"/>
                  </a:ext>
                </a:extLst>
              </p14:cNvPr>
              <p14:cNvContentPartPr/>
              <p14:nvPr/>
            </p14:nvContentPartPr>
            <p14:xfrm>
              <a:off x="-1540156" y="1886362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C1592C3-DBD3-6B92-CB70-003903A90E8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546276" y="1880242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43943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1AC651-8A51-19EB-0753-01F26D034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 I/O Model (Interactive Console)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60CDC4-0045-FC94-09EF-3810464E1500}"/>
              </a:ext>
            </a:extLst>
          </p:cNvPr>
          <p:cNvSpPr txBox="1"/>
          <p:nvPr/>
        </p:nvSpPr>
        <p:spPr>
          <a:xfrm>
            <a:off x="1295400" y="1951672"/>
            <a:ext cx="5791200" cy="19389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-- Simple Input</a:t>
            </a:r>
          </a:p>
          <a:p>
            <a:r>
              <a:rPr lang="en-US" sz="2400" dirty="0" err="1"/>
              <a:t>io.write</a:t>
            </a:r>
            <a:r>
              <a:rPr lang="en-US" sz="2400" dirty="0"/>
              <a:t>("Enter your name: ")</a:t>
            </a:r>
          </a:p>
          <a:p>
            <a:r>
              <a:rPr lang="en-US" sz="2400" dirty="0"/>
              <a:t>local name = </a:t>
            </a:r>
            <a:r>
              <a:rPr lang="en-US" sz="2400" dirty="0" err="1"/>
              <a:t>io.read</a:t>
            </a:r>
            <a:r>
              <a:rPr lang="en-US" sz="2400" dirty="0"/>
              <a:t>()</a:t>
            </a:r>
          </a:p>
          <a:p>
            <a:endParaRPr lang="en-US" sz="2400" dirty="0"/>
          </a:p>
          <a:p>
            <a:r>
              <a:rPr lang="en-US" sz="2400" dirty="0"/>
              <a:t>print("Hello, " .. name .. "!")</a:t>
            </a:r>
          </a:p>
        </p:txBody>
      </p:sp>
    </p:spTree>
    <p:extLst>
      <p:ext uri="{BB962C8B-B14F-4D97-AF65-F5344CB8AC3E}">
        <p14:creationId xmlns:p14="http://schemas.microsoft.com/office/powerpoint/2010/main" val="8477511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8891BE-4665-FF24-9A41-4B46D512C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 File Read/Write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F88732-C2D2-A4AD-F952-C7C0C10F8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447799"/>
            <a:ext cx="6781800" cy="4950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969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41E54-DAC9-456B-BFED-92DE1598E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40637C-758E-C38F-3867-33008246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Read Text 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4B17F6-78BD-BD2C-3F9E-2E6C7E8F43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000" t="5334" r="13333" b="6977"/>
          <a:stretch>
            <a:fillRect/>
          </a:stretch>
        </p:blipFill>
        <p:spPr>
          <a:xfrm>
            <a:off x="713874" y="1371600"/>
            <a:ext cx="6858000" cy="531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015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4D435-2C9D-47A3-140C-1FCFBCCC8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87FF0A-A1A4-D91B-D6F9-E6117CFC4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Read XML 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CB8ABB-88B8-600C-A16E-4849EBE23B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166" t="8208" r="12013" b="44561"/>
          <a:stretch>
            <a:fillRect/>
          </a:stretch>
        </p:blipFill>
        <p:spPr>
          <a:xfrm>
            <a:off x="527971" y="1600200"/>
            <a:ext cx="8205261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9854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454947-3620-1FDA-D4F0-78CE89CF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Summary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370F8C-3182-9115-025D-CD08C8B22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424139"/>
              </p:ext>
            </p:extLst>
          </p:nvPr>
        </p:nvGraphicFramePr>
        <p:xfrm>
          <a:off x="601686" y="1381125"/>
          <a:ext cx="7939043" cy="482441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224851">
                  <a:extLst>
                    <a:ext uri="{9D8B030D-6E8A-4147-A177-3AD203B41FA5}">
                      <a16:colId xmlns:a16="http://schemas.microsoft.com/office/drawing/2014/main" val="4232831462"/>
                    </a:ext>
                  </a:extLst>
                </a:gridCol>
                <a:gridCol w="2932315">
                  <a:extLst>
                    <a:ext uri="{9D8B030D-6E8A-4147-A177-3AD203B41FA5}">
                      <a16:colId xmlns:a16="http://schemas.microsoft.com/office/drawing/2014/main" val="1083999060"/>
                    </a:ext>
                  </a:extLst>
                </a:gridCol>
                <a:gridCol w="2781877">
                  <a:extLst>
                    <a:ext uri="{9D8B030D-6E8A-4147-A177-3AD203B41FA5}">
                      <a16:colId xmlns:a16="http://schemas.microsoft.com/office/drawing/2014/main" val="987878243"/>
                    </a:ext>
                  </a:extLst>
                </a:gridCol>
              </a:tblGrid>
              <a:tr h="515229">
                <a:tc>
                  <a:txBody>
                    <a:bodyPr/>
                    <a:lstStyle/>
                    <a:p>
                      <a:r>
                        <a:rPr lang="en-IN" sz="2300"/>
                        <a:t>Operation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Function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Notes</a:t>
                      </a:r>
                    </a:p>
                  </a:txBody>
                  <a:tcPr marL="117097" marR="117097" marT="58549" marB="58549" anchor="ctr"/>
                </a:tc>
                <a:extLst>
                  <a:ext uri="{0D108BD9-81ED-4DB2-BD59-A6C34878D82A}">
                    <a16:rowId xmlns:a16="http://schemas.microsoft.com/office/drawing/2014/main" val="3272090333"/>
                  </a:ext>
                </a:extLst>
              </a:tr>
              <a:tr h="515229">
                <a:tc>
                  <a:txBody>
                    <a:bodyPr/>
                    <a:lstStyle/>
                    <a:p>
                      <a:r>
                        <a:rPr lang="en-IN" sz="2300"/>
                        <a:t>Read input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io.read()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from keyboard</a:t>
                      </a:r>
                    </a:p>
                  </a:txBody>
                  <a:tcPr marL="117097" marR="117097" marT="58549" marB="58549" anchor="ctr"/>
                </a:tc>
                <a:extLst>
                  <a:ext uri="{0D108BD9-81ED-4DB2-BD59-A6C34878D82A}">
                    <a16:rowId xmlns:a16="http://schemas.microsoft.com/office/drawing/2014/main" val="3438830080"/>
                  </a:ext>
                </a:extLst>
              </a:tr>
              <a:tr h="515229">
                <a:tc>
                  <a:txBody>
                    <a:bodyPr/>
                    <a:lstStyle/>
                    <a:p>
                      <a:r>
                        <a:rPr lang="en-IN" sz="2300"/>
                        <a:t>Write output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io.write()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no newline</a:t>
                      </a:r>
                    </a:p>
                  </a:txBody>
                  <a:tcPr marL="117097" marR="117097" marT="58549" marB="58549" anchor="ctr"/>
                </a:tc>
                <a:extLst>
                  <a:ext uri="{0D108BD9-81ED-4DB2-BD59-A6C34878D82A}">
                    <a16:rowId xmlns:a16="http://schemas.microsoft.com/office/drawing/2014/main" val="1022943508"/>
                  </a:ext>
                </a:extLst>
              </a:tr>
              <a:tr h="515229">
                <a:tc>
                  <a:txBody>
                    <a:bodyPr/>
                    <a:lstStyle/>
                    <a:p>
                      <a:r>
                        <a:rPr lang="en-IN" sz="2300"/>
                        <a:t>Print line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print()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newline included</a:t>
                      </a:r>
                    </a:p>
                  </a:txBody>
                  <a:tcPr marL="117097" marR="117097" marT="58549" marB="58549" anchor="ctr"/>
                </a:tc>
                <a:extLst>
                  <a:ext uri="{0D108BD9-81ED-4DB2-BD59-A6C34878D82A}">
                    <a16:rowId xmlns:a16="http://schemas.microsoft.com/office/drawing/2014/main" val="1633859036"/>
                  </a:ext>
                </a:extLst>
              </a:tr>
              <a:tr h="866521">
                <a:tc>
                  <a:txBody>
                    <a:bodyPr/>
                    <a:lstStyle/>
                    <a:p>
                      <a:r>
                        <a:rPr lang="en-IN" sz="2300"/>
                        <a:t>Open file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io.open(filename, mode)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"r", "w", "a" modes</a:t>
                      </a:r>
                    </a:p>
                  </a:txBody>
                  <a:tcPr marL="117097" marR="117097" marT="58549" marB="58549" anchor="ctr"/>
                </a:tc>
                <a:extLst>
                  <a:ext uri="{0D108BD9-81ED-4DB2-BD59-A6C34878D82A}">
                    <a16:rowId xmlns:a16="http://schemas.microsoft.com/office/drawing/2014/main" val="3803011210"/>
                  </a:ext>
                </a:extLst>
              </a:tr>
              <a:tr h="515229">
                <a:tc>
                  <a:txBody>
                    <a:bodyPr/>
                    <a:lstStyle/>
                    <a:p>
                      <a:r>
                        <a:rPr lang="en-IN" sz="2300"/>
                        <a:t>Read from file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file:read("*l") or "*a"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line or all</a:t>
                      </a:r>
                    </a:p>
                  </a:txBody>
                  <a:tcPr marL="117097" marR="117097" marT="58549" marB="58549" anchor="ctr"/>
                </a:tc>
                <a:extLst>
                  <a:ext uri="{0D108BD9-81ED-4DB2-BD59-A6C34878D82A}">
                    <a16:rowId xmlns:a16="http://schemas.microsoft.com/office/drawing/2014/main" val="4202776431"/>
                  </a:ext>
                </a:extLst>
              </a:tr>
              <a:tr h="515229">
                <a:tc>
                  <a:txBody>
                    <a:bodyPr/>
                    <a:lstStyle/>
                    <a:p>
                      <a:r>
                        <a:rPr lang="en-IN" sz="2300"/>
                        <a:t>Write to file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file:write("text")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writes as string</a:t>
                      </a:r>
                    </a:p>
                  </a:txBody>
                  <a:tcPr marL="117097" marR="117097" marT="58549" marB="58549" anchor="ctr"/>
                </a:tc>
                <a:extLst>
                  <a:ext uri="{0D108BD9-81ED-4DB2-BD59-A6C34878D82A}">
                    <a16:rowId xmlns:a16="http://schemas.microsoft.com/office/drawing/2014/main" val="2077647019"/>
                  </a:ext>
                </a:extLst>
              </a:tr>
              <a:tr h="866521">
                <a:tc>
                  <a:txBody>
                    <a:bodyPr/>
                    <a:lstStyle/>
                    <a:p>
                      <a:r>
                        <a:rPr lang="en-IN" sz="2300"/>
                        <a:t>Close file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file:close()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must close after write</a:t>
                      </a:r>
                    </a:p>
                  </a:txBody>
                  <a:tcPr marL="117097" marR="117097" marT="58549" marB="58549" anchor="ctr"/>
                </a:tc>
                <a:extLst>
                  <a:ext uri="{0D108BD9-81ED-4DB2-BD59-A6C34878D82A}">
                    <a16:rowId xmlns:a16="http://schemas.microsoft.com/office/drawing/2014/main" val="1770684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54498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33EEB2-2687-8C91-55D7-DF6F7BAFB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Calls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384F54-D464-411C-0806-CD7853091E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00" t="8667" r="9167" b="39333"/>
          <a:stretch>
            <a:fillRect/>
          </a:stretch>
        </p:blipFill>
        <p:spPr>
          <a:xfrm>
            <a:off x="576881" y="1676400"/>
            <a:ext cx="7990237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568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4C1F20-C8AA-D4B1-CF8A-471E2B36D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Custom Date Formats with </a:t>
            </a:r>
            <a:r>
              <a:rPr lang="en-US" dirty="0" err="1"/>
              <a:t>os.date</a:t>
            </a:r>
            <a:r>
              <a:rPr lang="en-US" dirty="0"/>
              <a:t>(format)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98529A-23FC-5CFA-5D78-1ABAF32C23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5639"/>
              </p:ext>
            </p:extLst>
          </p:nvPr>
        </p:nvGraphicFramePr>
        <p:xfrm>
          <a:off x="565817" y="1381125"/>
          <a:ext cx="8010782" cy="4824414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092439">
                  <a:extLst>
                    <a:ext uri="{9D8B030D-6E8A-4147-A177-3AD203B41FA5}">
                      <a16:colId xmlns:a16="http://schemas.microsoft.com/office/drawing/2014/main" val="3657383501"/>
                    </a:ext>
                  </a:extLst>
                </a:gridCol>
                <a:gridCol w="3473086">
                  <a:extLst>
                    <a:ext uri="{9D8B030D-6E8A-4147-A177-3AD203B41FA5}">
                      <a16:colId xmlns:a16="http://schemas.microsoft.com/office/drawing/2014/main" val="3317994632"/>
                    </a:ext>
                  </a:extLst>
                </a:gridCol>
                <a:gridCol w="2445257">
                  <a:extLst>
                    <a:ext uri="{9D8B030D-6E8A-4147-A177-3AD203B41FA5}">
                      <a16:colId xmlns:a16="http://schemas.microsoft.com/office/drawing/2014/main" val="2954851906"/>
                    </a:ext>
                  </a:extLst>
                </a:gridCol>
              </a:tblGrid>
              <a:tr h="344601">
                <a:tc>
                  <a:txBody>
                    <a:bodyPr/>
                    <a:lstStyle/>
                    <a:p>
                      <a:r>
                        <a:rPr lang="en-IN" sz="1500"/>
                        <a:t>Format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Description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Example</a:t>
                      </a:r>
                    </a:p>
                  </a:txBody>
                  <a:tcPr marL="78178" marR="78178" marT="39090" marB="39090" anchor="ctr"/>
                </a:tc>
                <a:extLst>
                  <a:ext uri="{0D108BD9-81ED-4DB2-BD59-A6C34878D82A}">
                    <a16:rowId xmlns:a16="http://schemas.microsoft.com/office/drawing/2014/main" val="2922396476"/>
                  </a:ext>
                </a:extLst>
              </a:tr>
              <a:tr h="344601">
                <a:tc>
                  <a:txBody>
                    <a:bodyPr/>
                    <a:lstStyle/>
                    <a:p>
                      <a:r>
                        <a:rPr lang="en-IN" sz="1500"/>
                        <a:t>%Y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Year (4 digits)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2025</a:t>
                      </a:r>
                    </a:p>
                  </a:txBody>
                  <a:tcPr marL="78178" marR="78178" marT="39090" marB="39090" anchor="ctr"/>
                </a:tc>
                <a:extLst>
                  <a:ext uri="{0D108BD9-81ED-4DB2-BD59-A6C34878D82A}">
                    <a16:rowId xmlns:a16="http://schemas.microsoft.com/office/drawing/2014/main" val="2330993914"/>
                  </a:ext>
                </a:extLst>
              </a:tr>
              <a:tr h="344601">
                <a:tc>
                  <a:txBody>
                    <a:bodyPr/>
                    <a:lstStyle/>
                    <a:p>
                      <a:r>
                        <a:rPr lang="en-IN" sz="1500"/>
                        <a:t>%y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Year (2 digits)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25</a:t>
                      </a:r>
                    </a:p>
                  </a:txBody>
                  <a:tcPr marL="78178" marR="78178" marT="39090" marB="39090" anchor="ctr"/>
                </a:tc>
                <a:extLst>
                  <a:ext uri="{0D108BD9-81ED-4DB2-BD59-A6C34878D82A}">
                    <a16:rowId xmlns:a16="http://schemas.microsoft.com/office/drawing/2014/main" val="3577372408"/>
                  </a:ext>
                </a:extLst>
              </a:tr>
              <a:tr h="344601">
                <a:tc>
                  <a:txBody>
                    <a:bodyPr/>
                    <a:lstStyle/>
                    <a:p>
                      <a:r>
                        <a:rPr lang="en-IN" sz="1500"/>
                        <a:t>%m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Month (01–12)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06</a:t>
                      </a:r>
                    </a:p>
                  </a:txBody>
                  <a:tcPr marL="78178" marR="78178" marT="39090" marB="39090" anchor="ctr"/>
                </a:tc>
                <a:extLst>
                  <a:ext uri="{0D108BD9-81ED-4DB2-BD59-A6C34878D82A}">
                    <a16:rowId xmlns:a16="http://schemas.microsoft.com/office/drawing/2014/main" val="1810683381"/>
                  </a:ext>
                </a:extLst>
              </a:tr>
              <a:tr h="344601">
                <a:tc>
                  <a:txBody>
                    <a:bodyPr/>
                    <a:lstStyle/>
                    <a:p>
                      <a:r>
                        <a:rPr lang="en-IN" sz="1500"/>
                        <a:t>%B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Full month name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June</a:t>
                      </a:r>
                    </a:p>
                  </a:txBody>
                  <a:tcPr marL="78178" marR="78178" marT="39090" marB="39090" anchor="ctr"/>
                </a:tc>
                <a:extLst>
                  <a:ext uri="{0D108BD9-81ED-4DB2-BD59-A6C34878D82A}">
                    <a16:rowId xmlns:a16="http://schemas.microsoft.com/office/drawing/2014/main" val="1910850746"/>
                  </a:ext>
                </a:extLst>
              </a:tr>
              <a:tr h="344601">
                <a:tc>
                  <a:txBody>
                    <a:bodyPr/>
                    <a:lstStyle/>
                    <a:p>
                      <a:r>
                        <a:rPr lang="en-IN" sz="1500"/>
                        <a:t>%b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Abbreviated month name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Jun</a:t>
                      </a:r>
                    </a:p>
                  </a:txBody>
                  <a:tcPr marL="78178" marR="78178" marT="39090" marB="39090" anchor="ctr"/>
                </a:tc>
                <a:extLst>
                  <a:ext uri="{0D108BD9-81ED-4DB2-BD59-A6C34878D82A}">
                    <a16:rowId xmlns:a16="http://schemas.microsoft.com/office/drawing/2014/main" val="363852986"/>
                  </a:ext>
                </a:extLst>
              </a:tr>
              <a:tr h="344601">
                <a:tc>
                  <a:txBody>
                    <a:bodyPr/>
                    <a:lstStyle/>
                    <a:p>
                      <a:r>
                        <a:rPr lang="en-IN" sz="1500"/>
                        <a:t>%d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Day of the month (01–31)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28</a:t>
                      </a:r>
                    </a:p>
                  </a:txBody>
                  <a:tcPr marL="78178" marR="78178" marT="39090" marB="39090" anchor="ctr"/>
                </a:tc>
                <a:extLst>
                  <a:ext uri="{0D108BD9-81ED-4DB2-BD59-A6C34878D82A}">
                    <a16:rowId xmlns:a16="http://schemas.microsoft.com/office/drawing/2014/main" val="265492838"/>
                  </a:ext>
                </a:extLst>
              </a:tr>
              <a:tr h="344601">
                <a:tc>
                  <a:txBody>
                    <a:bodyPr/>
                    <a:lstStyle/>
                    <a:p>
                      <a:r>
                        <a:rPr lang="en-IN" sz="1500"/>
                        <a:t>%H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Hour (00–23)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15</a:t>
                      </a:r>
                    </a:p>
                  </a:txBody>
                  <a:tcPr marL="78178" marR="78178" marT="39090" marB="39090" anchor="ctr"/>
                </a:tc>
                <a:extLst>
                  <a:ext uri="{0D108BD9-81ED-4DB2-BD59-A6C34878D82A}">
                    <a16:rowId xmlns:a16="http://schemas.microsoft.com/office/drawing/2014/main" val="604385296"/>
                  </a:ext>
                </a:extLst>
              </a:tr>
              <a:tr h="344601">
                <a:tc>
                  <a:txBody>
                    <a:bodyPr/>
                    <a:lstStyle/>
                    <a:p>
                      <a:r>
                        <a:rPr lang="en-IN" sz="1500"/>
                        <a:t>%I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Hour (01–12)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03</a:t>
                      </a:r>
                    </a:p>
                  </a:txBody>
                  <a:tcPr marL="78178" marR="78178" marT="39090" marB="39090" anchor="ctr"/>
                </a:tc>
                <a:extLst>
                  <a:ext uri="{0D108BD9-81ED-4DB2-BD59-A6C34878D82A}">
                    <a16:rowId xmlns:a16="http://schemas.microsoft.com/office/drawing/2014/main" val="2381647140"/>
                  </a:ext>
                </a:extLst>
              </a:tr>
              <a:tr h="344601">
                <a:tc>
                  <a:txBody>
                    <a:bodyPr/>
                    <a:lstStyle/>
                    <a:p>
                      <a:r>
                        <a:rPr lang="en-IN" sz="1500"/>
                        <a:t>%p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AM/PM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PM</a:t>
                      </a:r>
                    </a:p>
                  </a:txBody>
                  <a:tcPr marL="78178" marR="78178" marT="39090" marB="39090" anchor="ctr"/>
                </a:tc>
                <a:extLst>
                  <a:ext uri="{0D108BD9-81ED-4DB2-BD59-A6C34878D82A}">
                    <a16:rowId xmlns:a16="http://schemas.microsoft.com/office/drawing/2014/main" val="2974751150"/>
                  </a:ext>
                </a:extLst>
              </a:tr>
              <a:tr h="344601">
                <a:tc>
                  <a:txBody>
                    <a:bodyPr/>
                    <a:lstStyle/>
                    <a:p>
                      <a:r>
                        <a:rPr lang="en-IN" sz="1500"/>
                        <a:t>%M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Minute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20</a:t>
                      </a:r>
                    </a:p>
                  </a:txBody>
                  <a:tcPr marL="78178" marR="78178" marT="39090" marB="39090" anchor="ctr"/>
                </a:tc>
                <a:extLst>
                  <a:ext uri="{0D108BD9-81ED-4DB2-BD59-A6C34878D82A}">
                    <a16:rowId xmlns:a16="http://schemas.microsoft.com/office/drawing/2014/main" val="4101569853"/>
                  </a:ext>
                </a:extLst>
              </a:tr>
              <a:tr h="344601">
                <a:tc>
                  <a:txBody>
                    <a:bodyPr/>
                    <a:lstStyle/>
                    <a:p>
                      <a:r>
                        <a:rPr lang="en-IN" sz="1500"/>
                        <a:t>%S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Second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12</a:t>
                      </a:r>
                    </a:p>
                  </a:txBody>
                  <a:tcPr marL="78178" marR="78178" marT="39090" marB="39090" anchor="ctr"/>
                </a:tc>
                <a:extLst>
                  <a:ext uri="{0D108BD9-81ED-4DB2-BD59-A6C34878D82A}">
                    <a16:rowId xmlns:a16="http://schemas.microsoft.com/office/drawing/2014/main" val="374517391"/>
                  </a:ext>
                </a:extLst>
              </a:tr>
              <a:tr h="344601">
                <a:tc>
                  <a:txBody>
                    <a:bodyPr/>
                    <a:lstStyle/>
                    <a:p>
                      <a:r>
                        <a:rPr lang="en-IN" sz="1500"/>
                        <a:t>%A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Full weekday name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Saturday</a:t>
                      </a:r>
                    </a:p>
                  </a:txBody>
                  <a:tcPr marL="78178" marR="78178" marT="39090" marB="39090" anchor="ctr"/>
                </a:tc>
                <a:extLst>
                  <a:ext uri="{0D108BD9-81ED-4DB2-BD59-A6C34878D82A}">
                    <a16:rowId xmlns:a16="http://schemas.microsoft.com/office/drawing/2014/main" val="3463898893"/>
                  </a:ext>
                </a:extLst>
              </a:tr>
              <a:tr h="344601">
                <a:tc>
                  <a:txBody>
                    <a:bodyPr/>
                    <a:lstStyle/>
                    <a:p>
                      <a:r>
                        <a:rPr lang="en-IN" sz="1500"/>
                        <a:t>%a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Abbreviated weekday name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Sat</a:t>
                      </a:r>
                    </a:p>
                  </a:txBody>
                  <a:tcPr marL="78178" marR="78178" marT="39090" marB="39090" anchor="ctr"/>
                </a:tc>
                <a:extLst>
                  <a:ext uri="{0D108BD9-81ED-4DB2-BD59-A6C34878D82A}">
                    <a16:rowId xmlns:a16="http://schemas.microsoft.com/office/drawing/2014/main" val="9488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02702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A7D82-4F83-7A3C-7A61-F3386EC11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4D6408-1AFE-5427-8206-561EBDA8B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Custom Date Formats with </a:t>
            </a:r>
            <a:r>
              <a:rPr lang="en-US" dirty="0" err="1"/>
              <a:t>os.date</a:t>
            </a:r>
            <a:r>
              <a:rPr lang="en-US" dirty="0"/>
              <a:t>(format)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50F2AB-3E8D-6D0C-DB80-5E15E688ECD5}"/>
              </a:ext>
            </a:extLst>
          </p:cNvPr>
          <p:cNvSpPr txBox="1"/>
          <p:nvPr/>
        </p:nvSpPr>
        <p:spPr>
          <a:xfrm>
            <a:off x="762000" y="1994168"/>
            <a:ext cx="7315200" cy="193899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dirty="0"/>
              <a:t>print(</a:t>
            </a:r>
            <a:r>
              <a:rPr lang="en-IN" sz="2400" dirty="0" err="1"/>
              <a:t>os.date</a:t>
            </a:r>
            <a:r>
              <a:rPr lang="en-IN" sz="2400" dirty="0"/>
              <a:t>("%Y-%m-%d"))        --&gt; 2025-06-28</a:t>
            </a:r>
          </a:p>
          <a:p>
            <a:r>
              <a:rPr lang="en-IN" sz="2400" dirty="0"/>
              <a:t>print(</a:t>
            </a:r>
            <a:r>
              <a:rPr lang="en-IN" sz="2400" dirty="0" err="1"/>
              <a:t>os.date</a:t>
            </a:r>
            <a:r>
              <a:rPr lang="en-IN" sz="2400" dirty="0"/>
              <a:t>("%d/%m/%Y"))        --&gt; 28/06/2025</a:t>
            </a:r>
          </a:p>
          <a:p>
            <a:r>
              <a:rPr lang="en-IN" sz="2400" dirty="0"/>
              <a:t>print(</a:t>
            </a:r>
            <a:r>
              <a:rPr lang="en-IN" sz="2400" dirty="0" err="1"/>
              <a:t>os.date</a:t>
            </a:r>
            <a:r>
              <a:rPr lang="en-IN" sz="2400" dirty="0"/>
              <a:t>("%I:%M %p"))        --&gt; 03:20 PM</a:t>
            </a:r>
          </a:p>
          <a:p>
            <a:r>
              <a:rPr lang="en-IN" sz="2400" dirty="0"/>
              <a:t>print(</a:t>
            </a:r>
            <a:r>
              <a:rPr lang="en-IN" sz="2400" dirty="0" err="1"/>
              <a:t>os.date</a:t>
            </a:r>
            <a:r>
              <a:rPr lang="en-IN" sz="2400" dirty="0"/>
              <a:t>("%A, %B %d, %Y"))   --&gt; Saturday, June 28, 2025</a:t>
            </a:r>
          </a:p>
        </p:txBody>
      </p:sp>
    </p:spTree>
    <p:extLst>
      <p:ext uri="{BB962C8B-B14F-4D97-AF65-F5344CB8AC3E}">
        <p14:creationId xmlns:p14="http://schemas.microsoft.com/office/powerpoint/2010/main" val="22045412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97B13-E848-8C77-DA28-FCD109EE6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Convert Table → String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C13439-0E63-5B34-2EA1-D62D669FF9C6}"/>
              </a:ext>
            </a:extLst>
          </p:cNvPr>
          <p:cNvSpPr txBox="1"/>
          <p:nvPr/>
        </p:nvSpPr>
        <p:spPr>
          <a:xfrm>
            <a:off x="1524000" y="1859339"/>
            <a:ext cx="4648200" cy="313932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local dt = {</a:t>
            </a:r>
          </a:p>
          <a:p>
            <a:r>
              <a:rPr lang="en-US" b="1" dirty="0"/>
              <a:t>  year = 2025,</a:t>
            </a:r>
          </a:p>
          <a:p>
            <a:r>
              <a:rPr lang="en-US" b="1" dirty="0"/>
              <a:t>  month = 12,</a:t>
            </a:r>
          </a:p>
          <a:p>
            <a:r>
              <a:rPr lang="en-US" b="1" dirty="0"/>
              <a:t>  day = 25,</a:t>
            </a:r>
          </a:p>
          <a:p>
            <a:r>
              <a:rPr lang="en-US" b="1" dirty="0"/>
              <a:t>  hour = 10,</a:t>
            </a:r>
          </a:p>
          <a:p>
            <a:r>
              <a:rPr lang="en-US" b="1" dirty="0"/>
              <a:t>  min = 30,</a:t>
            </a:r>
          </a:p>
          <a:p>
            <a:r>
              <a:rPr lang="en-US" b="1" dirty="0"/>
              <a:t>  sec = 0</a:t>
            </a:r>
          </a:p>
          <a:p>
            <a:r>
              <a:rPr lang="en-US" b="1" dirty="0"/>
              <a:t>}</a:t>
            </a:r>
          </a:p>
          <a:p>
            <a:r>
              <a:rPr lang="en-US" b="1" dirty="0"/>
              <a:t>print(</a:t>
            </a:r>
            <a:r>
              <a:rPr lang="en-US" b="1" dirty="0" err="1"/>
              <a:t>os.date</a:t>
            </a:r>
            <a:r>
              <a:rPr lang="en-US" b="1" dirty="0"/>
              <a:t>("%Y-%m-%d %H:%M:%S", </a:t>
            </a:r>
            <a:r>
              <a:rPr lang="en-US" b="1" dirty="0" err="1"/>
              <a:t>os.time</a:t>
            </a:r>
            <a:r>
              <a:rPr lang="en-US" b="1" dirty="0"/>
              <a:t>(dt)))</a:t>
            </a:r>
          </a:p>
          <a:p>
            <a:r>
              <a:rPr lang="en-US" b="1" dirty="0"/>
              <a:t>-- Output: 2025-12-25 10:30:00</a:t>
            </a:r>
          </a:p>
        </p:txBody>
      </p:sp>
    </p:spTree>
    <p:extLst>
      <p:ext uri="{BB962C8B-B14F-4D97-AF65-F5344CB8AC3E}">
        <p14:creationId xmlns:p14="http://schemas.microsoft.com/office/powerpoint/2010/main" val="6026312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71AC2-CA38-F29D-96E8-71EA0D551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1B85-EEA1-92AE-06C0-1521D3EBA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Convert String → 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E5A546-C002-B19B-557F-4EE0EB313B61}"/>
              </a:ext>
            </a:extLst>
          </p:cNvPr>
          <p:cNvSpPr txBox="1"/>
          <p:nvPr/>
        </p:nvSpPr>
        <p:spPr>
          <a:xfrm>
            <a:off x="1371600" y="2438400"/>
            <a:ext cx="3886200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1" dirty="0"/>
              <a:t>local t = </a:t>
            </a:r>
            <a:r>
              <a:rPr lang="en-IN" b="1" dirty="0" err="1"/>
              <a:t>os.date</a:t>
            </a:r>
            <a:r>
              <a:rPr lang="en-IN" b="1" dirty="0"/>
              <a:t>("*t")</a:t>
            </a:r>
          </a:p>
          <a:p>
            <a:r>
              <a:rPr lang="en-IN" b="1" dirty="0"/>
              <a:t>for k, v in pairs(t) do</a:t>
            </a:r>
          </a:p>
          <a:p>
            <a:r>
              <a:rPr lang="en-IN" b="1" dirty="0"/>
              <a:t>  print(k, v)</a:t>
            </a:r>
          </a:p>
          <a:p>
            <a:r>
              <a:rPr lang="en-IN" b="1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1576608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F5CF8-0664-8D5D-2088-C5D3FC42C64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locale: string like "</a:t>
            </a:r>
            <a:r>
              <a:rPr lang="en-US" dirty="0" err="1"/>
              <a:t>en_US</a:t>
            </a:r>
            <a:r>
              <a:rPr lang="en-US" dirty="0"/>
              <a:t>", "fr_FR.UTF-8", "C", or """ (empty for default)</a:t>
            </a:r>
          </a:p>
          <a:p>
            <a:r>
              <a:rPr lang="en-US" dirty="0"/>
              <a:t>category: optional, one of:</a:t>
            </a:r>
          </a:p>
          <a:p>
            <a:pPr lvl="1"/>
            <a:r>
              <a:rPr lang="en-US" dirty="0"/>
              <a:t>"all" (default)“</a:t>
            </a:r>
          </a:p>
          <a:p>
            <a:pPr lvl="1"/>
            <a:r>
              <a:rPr lang="en-US" dirty="0"/>
              <a:t>collate" (sorting)</a:t>
            </a:r>
          </a:p>
          <a:p>
            <a:pPr lvl="1"/>
            <a:r>
              <a:rPr lang="en-US" dirty="0"/>
              <a:t>"</a:t>
            </a:r>
            <a:r>
              <a:rPr lang="en-US" dirty="0" err="1"/>
              <a:t>ctype</a:t>
            </a:r>
            <a:r>
              <a:rPr lang="en-US" dirty="0"/>
              <a:t>" (char types like upper/lower)</a:t>
            </a:r>
          </a:p>
          <a:p>
            <a:pPr lvl="1"/>
            <a:r>
              <a:rPr lang="en-US" dirty="0"/>
              <a:t>"monetary" (currency)</a:t>
            </a:r>
          </a:p>
          <a:p>
            <a:pPr lvl="1"/>
            <a:r>
              <a:rPr lang="en-US" dirty="0"/>
              <a:t>"numeric" (decimal separator, etc.)</a:t>
            </a:r>
          </a:p>
          <a:p>
            <a:pPr lvl="1"/>
            <a:r>
              <a:rPr lang="en-US" dirty="0"/>
              <a:t>"time" (date/time formatting)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A0D909-876F-C20A-E4F2-DD158A72D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os.setlocale</a:t>
            </a:r>
            <a:r>
              <a:rPr lang="en-IN" dirty="0"/>
              <a:t>(locale, category) — Overview</a:t>
            </a:r>
          </a:p>
        </p:txBody>
      </p:sp>
    </p:spTree>
    <p:extLst>
      <p:ext uri="{BB962C8B-B14F-4D97-AF65-F5344CB8AC3E}">
        <p14:creationId xmlns:p14="http://schemas.microsoft.com/office/powerpoint/2010/main" val="31819765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3A570-AC53-35E9-71BF-6DE3849CB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D5E12-1427-0ED9-F056-5C5B37E89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os.setlocale</a:t>
            </a:r>
            <a:r>
              <a:rPr lang="en-IN" dirty="0"/>
              <a:t>(locale, category) —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E61B72-199E-015E-A29B-22638C7794EE}"/>
              </a:ext>
            </a:extLst>
          </p:cNvPr>
          <p:cNvSpPr txBox="1"/>
          <p:nvPr/>
        </p:nvSpPr>
        <p:spPr>
          <a:xfrm>
            <a:off x="461035" y="1676400"/>
            <a:ext cx="8205261" cy="388734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print("Before:", </a:t>
            </a:r>
            <a:r>
              <a:rPr lang="en-IN" dirty="0" err="1"/>
              <a:t>os.date</a:t>
            </a:r>
            <a:r>
              <a:rPr lang="en-IN" dirty="0"/>
              <a:t>("%A, %B %d, %Y"))</a:t>
            </a:r>
          </a:p>
          <a:p>
            <a:br>
              <a:rPr lang="en-IN" dirty="0"/>
            </a:br>
            <a:r>
              <a:rPr lang="en-IN" dirty="0"/>
              <a:t>local ok = </a:t>
            </a:r>
            <a:r>
              <a:rPr lang="en-IN" dirty="0" err="1"/>
              <a:t>os.setlocale</a:t>
            </a:r>
            <a:r>
              <a:rPr lang="en-IN" dirty="0"/>
              <a:t>("</a:t>
            </a:r>
            <a:r>
              <a:rPr lang="en-IN" dirty="0" err="1"/>
              <a:t>French_France</a:t>
            </a:r>
            <a:r>
              <a:rPr lang="en-IN" dirty="0"/>
              <a:t>", "time")  -- Try Windows-style first</a:t>
            </a:r>
          </a:p>
          <a:p>
            <a:br>
              <a:rPr lang="en-IN" dirty="0"/>
            </a:br>
            <a:r>
              <a:rPr lang="en-IN" dirty="0"/>
              <a:t>if not ok then</a:t>
            </a:r>
          </a:p>
          <a:p>
            <a:r>
              <a:rPr lang="en-IN" dirty="0"/>
              <a:t>  ok = </a:t>
            </a:r>
            <a:r>
              <a:rPr lang="en-IN" dirty="0" err="1"/>
              <a:t>os.setlocale</a:t>
            </a:r>
            <a:r>
              <a:rPr lang="en-IN" dirty="0"/>
              <a:t>("fr_FR.utf8", "time")         -- Try Linux/macOS style</a:t>
            </a:r>
          </a:p>
          <a:p>
            <a:r>
              <a:rPr lang="en-IN" dirty="0"/>
              <a:t>end</a:t>
            </a:r>
          </a:p>
          <a:p>
            <a:br>
              <a:rPr lang="en-IN" dirty="0"/>
            </a:br>
            <a:r>
              <a:rPr lang="en-IN" dirty="0"/>
              <a:t>if ok then</a:t>
            </a:r>
          </a:p>
          <a:p>
            <a:r>
              <a:rPr lang="en-IN" dirty="0"/>
              <a:t>  print("After (locale applied):", </a:t>
            </a:r>
            <a:r>
              <a:rPr lang="en-IN" dirty="0" err="1"/>
              <a:t>os.date</a:t>
            </a:r>
            <a:r>
              <a:rPr lang="en-IN" dirty="0"/>
              <a:t>("%A, %B %d, %Y"))</a:t>
            </a:r>
          </a:p>
          <a:p>
            <a:r>
              <a:rPr lang="en-IN" dirty="0"/>
              <a:t>else</a:t>
            </a:r>
          </a:p>
          <a:p>
            <a:r>
              <a:rPr lang="en-IN" dirty="0"/>
              <a:t>  print("Locale not supported on this system")</a:t>
            </a:r>
          </a:p>
          <a:p>
            <a:r>
              <a:rPr lang="en-IN" dirty="0"/>
              <a:t>end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4645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6E5822-7311-B523-E858-52FC0DDC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GCC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18D633-F3C1-A001-0138-E54A3C4AE2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999" b="33333"/>
          <a:stretch>
            <a:fillRect/>
          </a:stretch>
        </p:blipFill>
        <p:spPr>
          <a:xfrm>
            <a:off x="533400" y="1219200"/>
            <a:ext cx="8132896" cy="5410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539BB19-EBDB-8954-6482-5DFBC7F55279}"/>
                  </a:ext>
                </a:extLst>
              </p14:cNvPr>
              <p14:cNvContentPartPr/>
              <p14:nvPr/>
            </p14:nvContentPartPr>
            <p14:xfrm>
              <a:off x="2232644" y="2155642"/>
              <a:ext cx="1935360" cy="10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539BB19-EBDB-8954-6482-5DFBC7F552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26524" y="2149522"/>
                <a:ext cx="1947600" cy="2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56295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E30C4A-10F2-93E9-E4E9-9D8F9254E06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https://luabinaries.sourceforge.net/download.html</a:t>
            </a:r>
            <a:endParaRPr lang="en-IN" dirty="0"/>
          </a:p>
          <a:p>
            <a:r>
              <a:rPr lang="en-IN" dirty="0"/>
              <a:t>https://sourceforge.net/projects/luabinaries/files/5.4.2/Windows%20Libraries/Dynamic/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2F50ED-06E5-F1DB-784D-D460C46A0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Source and Binaries</a:t>
            </a:r>
          </a:p>
        </p:txBody>
      </p:sp>
    </p:spTree>
    <p:extLst>
      <p:ext uri="{BB962C8B-B14F-4D97-AF65-F5344CB8AC3E}">
        <p14:creationId xmlns:p14="http://schemas.microsoft.com/office/powerpoint/2010/main" val="17231689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A7366-BFF0-874D-BCCA-49193E262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75788B-C6BC-BB72-41C1-7EF51D4B9A2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1438275"/>
          </a:xfrm>
        </p:spPr>
        <p:txBody>
          <a:bodyPr/>
          <a:lstStyle/>
          <a:p>
            <a:r>
              <a:rPr lang="en-IN" dirty="0" err="1"/>
              <a:t>gcc</a:t>
            </a:r>
            <a:r>
              <a:rPr lang="en-IN" dirty="0"/>
              <a:t> -shared -o mylib.dll </a:t>
            </a:r>
            <a:r>
              <a:rPr lang="en-IN" dirty="0" err="1"/>
              <a:t>mylib.c</a:t>
            </a:r>
            <a:r>
              <a:rPr lang="en-IN" dirty="0"/>
              <a:t> -I"D:\software\lua-5.4.2_Sources\lua54\include" -L"D:\software\lua-5.4.2_Win64_dll17_lib" -llua54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75885C-1FAC-F169-AD1F-02BE1848F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C code from Lua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4F0277-EEA4-F469-22C1-1BE84BA1D1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66" t="42000" r="12501" b="47333"/>
          <a:stretch>
            <a:fillRect/>
          </a:stretch>
        </p:blipFill>
        <p:spPr>
          <a:xfrm>
            <a:off x="457201" y="3416166"/>
            <a:ext cx="8343891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4381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D84E2-90F6-E378-9B6B-9BA208B6A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4430C9-EB54-9858-6822-CE41A6EC3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C </a:t>
            </a:r>
            <a:r>
              <a:rPr lang="en-US" dirty="0" err="1"/>
              <a:t>dll</a:t>
            </a:r>
            <a:r>
              <a:rPr lang="en-US" dirty="0"/>
              <a:t> from Lua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D54590-ABD9-0FE5-4190-3A7A3799C4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000" r="12500" b="78000"/>
          <a:stretch>
            <a:fillRect/>
          </a:stretch>
        </p:blipFill>
        <p:spPr>
          <a:xfrm>
            <a:off x="685800" y="1789497"/>
            <a:ext cx="7620000" cy="1676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E329E8-06AD-BCA8-04BC-8BD4CCDE5F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00" t="43333" r="40000" b="34765"/>
          <a:stretch>
            <a:fillRect/>
          </a:stretch>
        </p:blipFill>
        <p:spPr>
          <a:xfrm>
            <a:off x="1219200" y="3733800"/>
            <a:ext cx="57912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2667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DC18E1-1877-32D1-C953-8A6CF98108B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Declaring Local Variables</a:t>
            </a:r>
          </a:p>
          <a:p>
            <a:pPr lvl="1"/>
            <a:r>
              <a:rPr lang="en-IN" dirty="0"/>
              <a:t>local x = 10</a:t>
            </a:r>
          </a:p>
          <a:p>
            <a:pPr lvl="1"/>
            <a:r>
              <a:rPr lang="en-IN" dirty="0"/>
              <a:t>print(x)  --&gt; 10</a:t>
            </a:r>
          </a:p>
          <a:p>
            <a:r>
              <a:rPr lang="en-US" dirty="0"/>
              <a:t>local means x is only accessible in the block or function where it's declared.</a:t>
            </a:r>
          </a:p>
          <a:p>
            <a:r>
              <a:rPr lang="en-US" dirty="0"/>
              <a:t>If you omit local, the variable becomes global (bad practice).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4BFC05-6A9D-7A69-3929-D5E4D6CB9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 Scope</a:t>
            </a:r>
          </a:p>
        </p:txBody>
      </p:sp>
    </p:spTree>
    <p:extLst>
      <p:ext uri="{BB962C8B-B14F-4D97-AF65-F5344CB8AC3E}">
        <p14:creationId xmlns:p14="http://schemas.microsoft.com/office/powerpoint/2010/main" val="24819257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A4114-6F36-C2A8-5A35-4BF46FF75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27B741-A363-F1BA-009D-1182FC33F57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Using Blocks</a:t>
            </a:r>
          </a:p>
          <a:p>
            <a:r>
              <a:rPr lang="en-US" dirty="0"/>
              <a:t>A block is a chunk of code enclosed in do ... end, or an implicit block in control structures or functions.</a:t>
            </a:r>
          </a:p>
          <a:p>
            <a:r>
              <a:rPr lang="en-US" dirty="0"/>
              <a:t>do</a:t>
            </a:r>
          </a:p>
          <a:p>
            <a:r>
              <a:rPr lang="en-US" dirty="0"/>
              <a:t>    local a = 5</a:t>
            </a:r>
          </a:p>
          <a:p>
            <a:r>
              <a:rPr lang="en-US" dirty="0"/>
              <a:t>    print(a)  --&gt; 5</a:t>
            </a:r>
          </a:p>
          <a:p>
            <a:r>
              <a:rPr lang="en-US" dirty="0"/>
              <a:t>end</a:t>
            </a:r>
          </a:p>
          <a:p>
            <a:r>
              <a:rPr lang="en-US" dirty="0"/>
              <a:t>print(a)  --&gt; nil or error (a is local to the block)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340F6F-B53E-7CAC-0E10-2DB5033D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 Scope</a:t>
            </a:r>
          </a:p>
        </p:txBody>
      </p:sp>
    </p:spTree>
    <p:extLst>
      <p:ext uri="{BB962C8B-B14F-4D97-AF65-F5344CB8AC3E}">
        <p14:creationId xmlns:p14="http://schemas.microsoft.com/office/powerpoint/2010/main" val="3040874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5A93C-2F37-ECB4-B2C5-3B4E0AA5B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ED27E9-5254-2B8C-4224-54EEFACFDB6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Block Examples in Control Structures</a:t>
            </a:r>
          </a:p>
          <a:p>
            <a:r>
              <a:rPr lang="en-US" dirty="0"/>
              <a:t>if true then</a:t>
            </a:r>
          </a:p>
          <a:p>
            <a:r>
              <a:rPr lang="en-US" dirty="0"/>
              <a:t>    local msg = "Inside if"</a:t>
            </a:r>
          </a:p>
          <a:p>
            <a:r>
              <a:rPr lang="en-US" dirty="0"/>
              <a:t>    print(msg)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  <a:p>
            <a:r>
              <a:rPr lang="en-US" dirty="0"/>
              <a:t>-- msg is not visible here</a:t>
            </a:r>
          </a:p>
          <a:p>
            <a:r>
              <a:rPr lang="en-US" dirty="0"/>
              <a:t>-- print(msg) --&gt; error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424DC-FEE3-6EBB-A766-453BD31E9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 Scope</a:t>
            </a:r>
          </a:p>
        </p:txBody>
      </p:sp>
    </p:spTree>
    <p:extLst>
      <p:ext uri="{BB962C8B-B14F-4D97-AF65-F5344CB8AC3E}">
        <p14:creationId xmlns:p14="http://schemas.microsoft.com/office/powerpoint/2010/main" val="12723115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3190F-BA07-76CA-6EC5-24D7727EE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55A239-29F3-A791-412D-DC6B538DAD5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Nested Locals (Shadowing)</a:t>
            </a:r>
          </a:p>
          <a:p>
            <a:r>
              <a:rPr lang="en-US" dirty="0"/>
              <a:t>local x = 1</a:t>
            </a:r>
          </a:p>
          <a:p>
            <a:r>
              <a:rPr lang="en-US" dirty="0"/>
              <a:t>do</a:t>
            </a:r>
          </a:p>
          <a:p>
            <a:r>
              <a:rPr lang="en-US" dirty="0"/>
              <a:t>    local x = 2  -- shadows outer x</a:t>
            </a:r>
          </a:p>
          <a:p>
            <a:r>
              <a:rPr lang="en-US" dirty="0"/>
              <a:t>    print(x)     --&gt; 2</a:t>
            </a:r>
          </a:p>
          <a:p>
            <a:r>
              <a:rPr lang="en-US" dirty="0"/>
              <a:t>end</a:t>
            </a:r>
          </a:p>
          <a:p>
            <a:r>
              <a:rPr lang="en-US" dirty="0"/>
              <a:t>print(x)         --&gt; 1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37BAE8-6153-9568-14CE-428E6822B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 Scope</a:t>
            </a:r>
          </a:p>
        </p:txBody>
      </p:sp>
    </p:spTree>
    <p:extLst>
      <p:ext uri="{BB962C8B-B14F-4D97-AF65-F5344CB8AC3E}">
        <p14:creationId xmlns:p14="http://schemas.microsoft.com/office/powerpoint/2010/main" val="12022877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96F2C-413D-0EC4-B651-D51FB06E8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C597B9-372C-D046-30DE-97D2A18A53C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Function-Level Scope</a:t>
            </a:r>
          </a:p>
          <a:p>
            <a:r>
              <a:rPr lang="en-US" dirty="0"/>
              <a:t>function add(a, b)</a:t>
            </a:r>
          </a:p>
          <a:p>
            <a:r>
              <a:rPr lang="en-US" dirty="0"/>
              <a:t>    local result = a + b</a:t>
            </a:r>
          </a:p>
          <a:p>
            <a:r>
              <a:rPr lang="en-US" dirty="0"/>
              <a:t>    return result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  <a:p>
            <a:r>
              <a:rPr lang="en-US" dirty="0"/>
              <a:t>-- result is not visible outside</a:t>
            </a:r>
          </a:p>
          <a:p>
            <a:r>
              <a:rPr lang="en-US" dirty="0"/>
              <a:t>-- print(result) --&gt; error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3B4CB3-E1FB-7155-39F0-67557AC6B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 Scope</a:t>
            </a:r>
          </a:p>
        </p:txBody>
      </p:sp>
    </p:spTree>
    <p:extLst>
      <p:ext uri="{BB962C8B-B14F-4D97-AF65-F5344CB8AC3E}">
        <p14:creationId xmlns:p14="http://schemas.microsoft.com/office/powerpoint/2010/main" val="17347897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25023E-7190-DA23-44A2-C239A378F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8D615E-B84B-63AD-7E02-FFB1CF118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502573"/>
              </p:ext>
            </p:extLst>
          </p:nvPr>
        </p:nvGraphicFramePr>
        <p:xfrm>
          <a:off x="457201" y="1862881"/>
          <a:ext cx="8228013" cy="386090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148781">
                  <a:extLst>
                    <a:ext uri="{9D8B030D-6E8A-4147-A177-3AD203B41FA5}">
                      <a16:colId xmlns:a16="http://schemas.microsoft.com/office/drawing/2014/main" val="3510612110"/>
                    </a:ext>
                  </a:extLst>
                </a:gridCol>
                <a:gridCol w="5079232">
                  <a:extLst>
                    <a:ext uri="{9D8B030D-6E8A-4147-A177-3AD203B41FA5}">
                      <a16:colId xmlns:a16="http://schemas.microsoft.com/office/drawing/2014/main" val="854113494"/>
                    </a:ext>
                  </a:extLst>
                </a:gridCol>
              </a:tblGrid>
              <a:tr h="679519">
                <a:tc>
                  <a:txBody>
                    <a:bodyPr/>
                    <a:lstStyle/>
                    <a:p>
                      <a:r>
                        <a:rPr lang="en-IN" sz="3000"/>
                        <a:t>Feature</a:t>
                      </a:r>
                    </a:p>
                  </a:txBody>
                  <a:tcPr marL="154436" marR="154436" marT="77218" marB="77218" anchor="ctr"/>
                </a:tc>
                <a:tc>
                  <a:txBody>
                    <a:bodyPr/>
                    <a:lstStyle/>
                    <a:p>
                      <a:r>
                        <a:rPr lang="en-IN" sz="3000"/>
                        <a:t>Behavior</a:t>
                      </a:r>
                    </a:p>
                  </a:txBody>
                  <a:tcPr marL="154436" marR="154436" marT="77218" marB="77218" anchor="ctr"/>
                </a:tc>
                <a:extLst>
                  <a:ext uri="{0D108BD9-81ED-4DB2-BD59-A6C34878D82A}">
                    <a16:rowId xmlns:a16="http://schemas.microsoft.com/office/drawing/2014/main" val="1863577910"/>
                  </a:ext>
                </a:extLst>
              </a:tr>
              <a:tr h="1142828">
                <a:tc>
                  <a:txBody>
                    <a:bodyPr/>
                    <a:lstStyle/>
                    <a:p>
                      <a:r>
                        <a:rPr lang="en-IN" sz="3000"/>
                        <a:t>local</a:t>
                      </a:r>
                    </a:p>
                  </a:txBody>
                  <a:tcPr marL="154436" marR="154436" marT="77218" marB="77218" anchor="ctr"/>
                </a:tc>
                <a:tc>
                  <a:txBody>
                    <a:bodyPr/>
                    <a:lstStyle/>
                    <a:p>
                      <a:r>
                        <a:rPr lang="en-US" sz="3000"/>
                        <a:t>Restricts variable scope to current block</a:t>
                      </a:r>
                    </a:p>
                  </a:txBody>
                  <a:tcPr marL="154436" marR="154436" marT="77218" marB="77218" anchor="ctr"/>
                </a:tc>
                <a:extLst>
                  <a:ext uri="{0D108BD9-81ED-4DB2-BD59-A6C34878D82A}">
                    <a16:rowId xmlns:a16="http://schemas.microsoft.com/office/drawing/2014/main" val="1878391620"/>
                  </a:ext>
                </a:extLst>
              </a:tr>
              <a:tr h="679519">
                <a:tc>
                  <a:txBody>
                    <a:bodyPr/>
                    <a:lstStyle/>
                    <a:p>
                      <a:r>
                        <a:rPr lang="en-IN" sz="3000"/>
                        <a:t>do ... end</a:t>
                      </a:r>
                    </a:p>
                  </a:txBody>
                  <a:tcPr marL="154436" marR="154436" marT="77218" marB="77218" anchor="ctr"/>
                </a:tc>
                <a:tc>
                  <a:txBody>
                    <a:bodyPr/>
                    <a:lstStyle/>
                    <a:p>
                      <a:r>
                        <a:rPr lang="en-IN" sz="3000"/>
                        <a:t>Creates a block</a:t>
                      </a:r>
                    </a:p>
                  </a:txBody>
                  <a:tcPr marL="154436" marR="154436" marT="77218" marB="77218" anchor="ctr"/>
                </a:tc>
                <a:extLst>
                  <a:ext uri="{0D108BD9-81ED-4DB2-BD59-A6C34878D82A}">
                    <a16:rowId xmlns:a16="http://schemas.microsoft.com/office/drawing/2014/main" val="3104906578"/>
                  </a:ext>
                </a:extLst>
              </a:tr>
              <a:tr h="679519">
                <a:tc>
                  <a:txBody>
                    <a:bodyPr/>
                    <a:lstStyle/>
                    <a:p>
                      <a:r>
                        <a:rPr lang="en-IN" sz="3000"/>
                        <a:t>Function scope</a:t>
                      </a:r>
                    </a:p>
                  </a:txBody>
                  <a:tcPr marL="154436" marR="154436" marT="77218" marB="77218" anchor="ctr"/>
                </a:tc>
                <a:tc>
                  <a:txBody>
                    <a:bodyPr/>
                    <a:lstStyle/>
                    <a:p>
                      <a:r>
                        <a:rPr lang="en-US" sz="3000"/>
                        <a:t>Has its own local space</a:t>
                      </a:r>
                    </a:p>
                  </a:txBody>
                  <a:tcPr marL="154436" marR="154436" marT="77218" marB="77218" anchor="ctr"/>
                </a:tc>
                <a:extLst>
                  <a:ext uri="{0D108BD9-81ED-4DB2-BD59-A6C34878D82A}">
                    <a16:rowId xmlns:a16="http://schemas.microsoft.com/office/drawing/2014/main" val="736960781"/>
                  </a:ext>
                </a:extLst>
              </a:tr>
              <a:tr h="679519">
                <a:tc>
                  <a:txBody>
                    <a:bodyPr/>
                    <a:lstStyle/>
                    <a:p>
                      <a:r>
                        <a:rPr lang="en-IN" sz="3000"/>
                        <a:t>Shadowing</a:t>
                      </a:r>
                    </a:p>
                  </a:txBody>
                  <a:tcPr marL="154436" marR="154436" marT="77218" marB="77218" anchor="ctr"/>
                </a:tc>
                <a:tc>
                  <a:txBody>
                    <a:bodyPr/>
                    <a:lstStyle/>
                    <a:p>
                      <a:r>
                        <a:rPr lang="en-US" sz="3000"/>
                        <a:t>Inner local hides outer one</a:t>
                      </a:r>
                    </a:p>
                  </a:txBody>
                  <a:tcPr marL="154436" marR="154436" marT="77218" marB="77218" anchor="ctr"/>
                </a:tc>
                <a:extLst>
                  <a:ext uri="{0D108BD9-81ED-4DB2-BD59-A6C34878D82A}">
                    <a16:rowId xmlns:a16="http://schemas.microsoft.com/office/drawing/2014/main" val="501872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24264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3BF2-CF55-C95F-3B86-3BA04D03A85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break exits the loop immediately, skipping the rest of the body and the next iteration.</a:t>
            </a:r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= 1, 10 do</a:t>
            </a:r>
          </a:p>
          <a:p>
            <a:r>
              <a:rPr lang="en-US" dirty="0"/>
              <a:t>    if </a:t>
            </a:r>
            <a:r>
              <a:rPr lang="en-US" dirty="0" err="1"/>
              <a:t>i</a:t>
            </a:r>
            <a:r>
              <a:rPr lang="en-US" dirty="0"/>
              <a:t> == 5 then</a:t>
            </a:r>
          </a:p>
          <a:p>
            <a:r>
              <a:rPr lang="en-US" dirty="0"/>
              <a:t>        break</a:t>
            </a:r>
          </a:p>
          <a:p>
            <a:r>
              <a:rPr lang="en-US" dirty="0"/>
              <a:t>    end</a:t>
            </a:r>
          </a:p>
          <a:p>
            <a:r>
              <a:rPr lang="en-US" dirty="0"/>
              <a:t>    print(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r>
              <a:rPr lang="en-US" dirty="0"/>
              <a:t>end</a:t>
            </a:r>
          </a:p>
          <a:p>
            <a:r>
              <a:rPr lang="en-US" dirty="0"/>
              <a:t>-- Output: 1 2 3 4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7ACC6F-28FA-F966-902F-E2A246B2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39546196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62DE4C-C513-F45D-10F9-A7A37288F0B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goto can jump forward or backward to a label inside the same block.</a:t>
            </a:r>
          </a:p>
          <a:p>
            <a:r>
              <a:rPr lang="en-US" dirty="0"/>
              <a:t>It cannot jump into the scope of a local variable declared after it (Lua prevents unsafe jumps).</a:t>
            </a:r>
          </a:p>
          <a:p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= 1, 5 do</a:t>
            </a:r>
          </a:p>
          <a:p>
            <a:r>
              <a:rPr lang="en-IN" dirty="0"/>
              <a:t>    if </a:t>
            </a:r>
            <a:r>
              <a:rPr lang="en-IN" dirty="0" err="1"/>
              <a:t>i</a:t>
            </a:r>
            <a:r>
              <a:rPr lang="en-IN" dirty="0"/>
              <a:t> == 3 then</a:t>
            </a:r>
          </a:p>
          <a:p>
            <a:r>
              <a:rPr lang="en-IN" dirty="0"/>
              <a:t>        </a:t>
            </a:r>
            <a:r>
              <a:rPr lang="en-IN" dirty="0" err="1"/>
              <a:t>goto</a:t>
            </a:r>
            <a:r>
              <a:rPr lang="en-IN" dirty="0"/>
              <a:t> skip</a:t>
            </a:r>
          </a:p>
          <a:p>
            <a:r>
              <a:rPr lang="en-IN" dirty="0"/>
              <a:t>    end</a:t>
            </a:r>
          </a:p>
          <a:p>
            <a:r>
              <a:rPr lang="en-IN" dirty="0"/>
              <a:t>    print(</a:t>
            </a:r>
            <a:r>
              <a:rPr lang="en-IN" dirty="0" err="1"/>
              <a:t>i</a:t>
            </a:r>
            <a:r>
              <a:rPr lang="en-IN" dirty="0"/>
              <a:t>)</a:t>
            </a:r>
          </a:p>
          <a:p>
            <a:r>
              <a:rPr lang="en-IN" dirty="0"/>
              <a:t>end</a:t>
            </a:r>
          </a:p>
          <a:p>
            <a:endParaRPr lang="en-IN" dirty="0"/>
          </a:p>
          <a:p>
            <a:r>
              <a:rPr lang="en-IN" dirty="0"/>
              <a:t>::skip::</a:t>
            </a:r>
          </a:p>
          <a:p>
            <a:r>
              <a:rPr lang="en-IN" dirty="0"/>
              <a:t>print("Loop skipped at </a:t>
            </a:r>
            <a:r>
              <a:rPr lang="en-IN" dirty="0" err="1"/>
              <a:t>i</a:t>
            </a:r>
            <a:r>
              <a:rPr lang="en-IN" dirty="0"/>
              <a:t> == 3")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C2693C-5EAC-DF6D-DB8C-6D396B9E2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goto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24246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4EBC98-729B-A562-5B2C-C492BF9F9E7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You cannot use goto to jump forward into a place where a local variable is declared — because that would skip the variable’s initialization, which can lead to unpredictable behavior.</a:t>
            </a:r>
          </a:p>
          <a:p>
            <a:r>
              <a:rPr lang="en-US" dirty="0"/>
              <a:t>goto </a:t>
            </a:r>
            <a:r>
              <a:rPr lang="en-US" dirty="0" err="1"/>
              <a:t>jump_here</a:t>
            </a:r>
            <a:r>
              <a:rPr lang="en-US" dirty="0"/>
              <a:t>      -- ERROR</a:t>
            </a:r>
          </a:p>
          <a:p>
            <a:endParaRPr lang="en-US" dirty="0"/>
          </a:p>
          <a:p>
            <a:r>
              <a:rPr lang="en-US" dirty="0"/>
              <a:t>local x = 10        -- this line is skipped!</a:t>
            </a:r>
          </a:p>
          <a:p>
            <a:endParaRPr lang="en-US" dirty="0"/>
          </a:p>
          <a:p>
            <a:r>
              <a:rPr lang="en-US" dirty="0"/>
              <a:t>::</a:t>
            </a:r>
            <a:r>
              <a:rPr lang="en-US" dirty="0" err="1"/>
              <a:t>jump_here</a:t>
            </a:r>
            <a:r>
              <a:rPr lang="en-US" dirty="0"/>
              <a:t>::</a:t>
            </a:r>
          </a:p>
          <a:p>
            <a:r>
              <a:rPr lang="en-US" dirty="0"/>
              <a:t>print(x)            -- illegal: x was never declared in this path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E40199-1E68-F169-F129-96F951504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Invalid </a:t>
            </a:r>
            <a:r>
              <a:rPr lang="en-IN" dirty="0" err="1"/>
              <a:t>goto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53878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CA9761-EBF6-58FD-758A-EF8FB7CA858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 function that captures the variables from its enclosing scope, forming a persistent environment.</a:t>
            </a:r>
          </a:p>
          <a:p>
            <a:r>
              <a:rPr lang="en-US" dirty="0"/>
              <a:t>Even if the outer function finishes execution, the inner function retains access to those variables.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EF326D-CB32-7D1D-EACC-BB8074785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Closures</a:t>
            </a:r>
          </a:p>
        </p:txBody>
      </p:sp>
    </p:spTree>
    <p:extLst>
      <p:ext uri="{BB962C8B-B14F-4D97-AF65-F5344CB8AC3E}">
        <p14:creationId xmlns:p14="http://schemas.microsoft.com/office/powerpoint/2010/main" val="8321734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3FAEDA-5F94-76AD-2B4A-081D53FB047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function outer()</a:t>
            </a:r>
          </a:p>
          <a:p>
            <a:r>
              <a:rPr lang="en-US" dirty="0"/>
              <a:t>    local a = 5</a:t>
            </a:r>
          </a:p>
          <a:p>
            <a:r>
              <a:rPr lang="en-US" dirty="0"/>
              <a:t>    return function()</a:t>
            </a:r>
          </a:p>
          <a:p>
            <a:r>
              <a:rPr lang="en-US" dirty="0"/>
              <a:t>        return a</a:t>
            </a:r>
          </a:p>
          <a:p>
            <a:r>
              <a:rPr lang="en-US" dirty="0"/>
              <a:t>    end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  <a:p>
            <a:r>
              <a:rPr lang="en-US" dirty="0"/>
              <a:t>local f = outer()</a:t>
            </a:r>
          </a:p>
          <a:p>
            <a:r>
              <a:rPr lang="en-US" dirty="0"/>
              <a:t>print(f())  -- prints 5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F8ADFB-B4BF-3456-563E-D318EE472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Anatomy of a Closure</a:t>
            </a:r>
          </a:p>
        </p:txBody>
      </p:sp>
    </p:spTree>
    <p:extLst>
      <p:ext uri="{BB962C8B-B14F-4D97-AF65-F5344CB8AC3E}">
        <p14:creationId xmlns:p14="http://schemas.microsoft.com/office/powerpoint/2010/main" val="239133831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0EC88-E31A-039C-1430-B7F51801F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3A02AC-004F-49C4-E31A-EB66EF7A9C2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 is a local variable to outer</a:t>
            </a:r>
          </a:p>
          <a:p>
            <a:r>
              <a:rPr lang="en-US" dirty="0"/>
              <a:t>The anonymous function captures it</a:t>
            </a:r>
          </a:p>
          <a:p>
            <a:r>
              <a:rPr lang="en-US" dirty="0"/>
              <a:t>outer() returns the function</a:t>
            </a:r>
          </a:p>
          <a:p>
            <a:r>
              <a:rPr lang="en-US" dirty="0"/>
              <a:t>The function retains access to 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 even after outer() ends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4A5882-4D07-15D4-462E-A503A07F5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Anatomy of a Closure</a:t>
            </a:r>
          </a:p>
        </p:txBody>
      </p:sp>
    </p:spTree>
    <p:extLst>
      <p:ext uri="{BB962C8B-B14F-4D97-AF65-F5344CB8AC3E}">
        <p14:creationId xmlns:p14="http://schemas.microsoft.com/office/powerpoint/2010/main" val="14409442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81E10D-201A-AB45-F7F5-E46CA4EE19A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Lua functions form a lexical scope chain.</a:t>
            </a:r>
          </a:p>
          <a:p>
            <a:r>
              <a:rPr lang="en-US" dirty="0"/>
              <a:t>An upvalue is a reference to a local variable from an outer scope.</a:t>
            </a:r>
          </a:p>
          <a:p>
            <a:r>
              <a:rPr lang="en-US" dirty="0"/>
              <a:t>Lua does not copy the variable — it references it.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81E936-AFA4-7B20-EF74-E2B24BA6F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Scope Chain: Closures Capture Upvalues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17C8DBA-1506-978A-80E1-BE440E709B31}"/>
                  </a:ext>
                </a:extLst>
              </p14:cNvPr>
              <p14:cNvContentPartPr/>
              <p14:nvPr/>
            </p14:nvContentPartPr>
            <p14:xfrm>
              <a:off x="760244" y="2337082"/>
              <a:ext cx="6241680" cy="70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17C8DBA-1506-978A-80E1-BE440E709B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4124" y="2330962"/>
                <a:ext cx="6253920" cy="8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346306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2FC93-E410-6CBC-CE32-62FCD16FD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42BE85-8197-9244-6C63-0AA089CEF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Scope Chain: Closures Capture Upvalues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D7EFCD-02AE-0A36-65A9-AD73E7F78B0D}"/>
              </a:ext>
            </a:extLst>
          </p:cNvPr>
          <p:cNvSpPr txBox="1"/>
          <p:nvPr/>
        </p:nvSpPr>
        <p:spPr>
          <a:xfrm>
            <a:off x="762000" y="1615558"/>
            <a:ext cx="7239000" cy="415498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function </a:t>
            </a:r>
            <a:r>
              <a:rPr lang="en-US" sz="2400" dirty="0" err="1"/>
              <a:t>makeWriter</a:t>
            </a:r>
            <a:r>
              <a:rPr lang="en-US" sz="2400" dirty="0"/>
              <a:t>()</a:t>
            </a:r>
          </a:p>
          <a:p>
            <a:r>
              <a:rPr lang="en-US" sz="2400" dirty="0"/>
              <a:t>    local text = ""</a:t>
            </a:r>
          </a:p>
          <a:p>
            <a:r>
              <a:rPr lang="en-US" sz="2400" dirty="0"/>
              <a:t>    return function(t)</a:t>
            </a:r>
          </a:p>
          <a:p>
            <a:r>
              <a:rPr lang="en-US" sz="2400" dirty="0"/>
              <a:t>        text = text .. t</a:t>
            </a:r>
          </a:p>
          <a:p>
            <a:r>
              <a:rPr lang="en-US" sz="2400" dirty="0"/>
              <a:t>        return text</a:t>
            </a:r>
          </a:p>
          <a:p>
            <a:r>
              <a:rPr lang="en-US" sz="2400" dirty="0"/>
              <a:t>    end</a:t>
            </a:r>
          </a:p>
          <a:p>
            <a:r>
              <a:rPr lang="en-US" sz="2400" dirty="0"/>
              <a:t>end</a:t>
            </a:r>
          </a:p>
          <a:p>
            <a:endParaRPr lang="en-US" sz="2400" dirty="0"/>
          </a:p>
          <a:p>
            <a:r>
              <a:rPr lang="en-US" sz="2400" dirty="0"/>
              <a:t>local writer = </a:t>
            </a:r>
            <a:r>
              <a:rPr lang="en-US" sz="2400" dirty="0" err="1"/>
              <a:t>makeWriter</a:t>
            </a:r>
            <a:r>
              <a:rPr lang="en-US" sz="2400" dirty="0"/>
              <a:t>()</a:t>
            </a:r>
          </a:p>
          <a:p>
            <a:r>
              <a:rPr lang="en-US" sz="2400" dirty="0"/>
              <a:t>print(writer("Hi"))    --&gt; Hi</a:t>
            </a:r>
          </a:p>
          <a:p>
            <a:r>
              <a:rPr lang="en-US" sz="2400" dirty="0"/>
              <a:t>print(writer(" there"))--&gt; Hi there</a:t>
            </a:r>
          </a:p>
        </p:txBody>
      </p:sp>
    </p:spTree>
    <p:extLst>
      <p:ext uri="{BB962C8B-B14F-4D97-AF65-F5344CB8AC3E}">
        <p14:creationId xmlns:p14="http://schemas.microsoft.com/office/powerpoint/2010/main" val="253727749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E1DA66-E56B-51DE-0D6E-D347AE449F6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Lua converts this: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function outer()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  local x = 1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  return function() return x end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end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8ABDF2-6A50-54A0-3626-67B557102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Behavior (How Lua Stores It)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476014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7F7D4-425A-A96E-A709-07472A700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A03E89-9C46-C0A2-A74A-56D40E8EA65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To this (conceptually):</a:t>
            </a:r>
          </a:p>
          <a:p>
            <a:r>
              <a:rPr lang="en-US" dirty="0"/>
              <a:t>-- pseudo-C-style environment structure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Closure {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  </a:t>
            </a:r>
            <a:r>
              <a:rPr lang="en-US" dirty="0" err="1">
                <a:highlight>
                  <a:srgbClr val="FFFF00"/>
                </a:highlight>
              </a:rPr>
              <a:t>function_body</a:t>
            </a:r>
            <a:r>
              <a:rPr lang="en-US" dirty="0">
                <a:highlight>
                  <a:srgbClr val="FFFF00"/>
                </a:highlight>
              </a:rPr>
              <a:t> = function(...)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    return upvalues[1]  -- x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  end,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  upvalues = {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    [1] = reference to x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  }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}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4D39BF-8F09-958C-6CCB-3F332C547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Behavior (How Lua Stores It)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7160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B7A35-07EA-A7B2-6E0E-6828894FB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0CF6FB-0666-3B9A-0D01-171181FBCA6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/>
              <a:t>function counters()</a:t>
            </a:r>
          </a:p>
          <a:p>
            <a:pPr marL="0" indent="0">
              <a:buNone/>
            </a:pPr>
            <a:r>
              <a:rPr lang="en-US"/>
              <a:t>  local x = 0</a:t>
            </a:r>
          </a:p>
          <a:p>
            <a:pPr marL="0" indent="0">
              <a:buNone/>
            </a:pPr>
            <a:r>
              <a:rPr lang="en-US"/>
              <a:t>  return function() x = x + 1; return x end,</a:t>
            </a:r>
          </a:p>
          <a:p>
            <a:pPr marL="0" indent="0">
              <a:buNone/>
            </a:pPr>
            <a:r>
              <a:rPr lang="en-US"/>
              <a:t>         function() x = x + 10; return x end</a:t>
            </a:r>
          </a:p>
          <a:p>
            <a:pPr marL="0" indent="0">
              <a:buNone/>
            </a:pPr>
            <a:r>
              <a:rPr lang="en-US"/>
              <a:t>end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local inc1, inc2 = counters()</a:t>
            </a:r>
          </a:p>
          <a:p>
            <a:pPr marL="0" indent="0">
              <a:buNone/>
            </a:pPr>
            <a:r>
              <a:rPr lang="en-US"/>
              <a:t>print(inc1())  --&gt; 1</a:t>
            </a:r>
          </a:p>
          <a:p>
            <a:pPr marL="0" indent="0">
              <a:buNone/>
            </a:pPr>
            <a:r>
              <a:rPr lang="en-US"/>
              <a:t>print(inc2())  --&gt; 11 (they share `x`)</a:t>
            </a:r>
          </a:p>
          <a:p>
            <a:pPr marL="0" indent="0">
              <a:buNone/>
            </a:pPr>
            <a:r>
              <a:rPr lang="en-US"/>
              <a:t>print(inc1())  --&gt; 12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5E6A5B-EDB1-4283-6FD4-616981035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Behavior (How Lua Stores It)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249612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BEF073-A6C1-671F-67B7-4A79DCBD62C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IN" dirty="0"/>
              <a:t>Encapsulation &amp; Stateful Functions</a:t>
            </a:r>
          </a:p>
          <a:p>
            <a:pPr lvl="1"/>
            <a:r>
              <a:rPr lang="en-US" dirty="0"/>
              <a:t>Encapsulation means hiding internal data and logic, exposing only what is necessary. </a:t>
            </a:r>
          </a:p>
          <a:p>
            <a:pPr lvl="1"/>
            <a:r>
              <a:rPr lang="en-US" dirty="0"/>
              <a:t>In languages like Java or Python, you use private or protected keywords. </a:t>
            </a:r>
          </a:p>
          <a:p>
            <a:pPr lvl="1"/>
            <a:r>
              <a:rPr lang="en-US" dirty="0"/>
              <a:t>In Lua, we achieve the same behavior using closures.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EEADAC-A56F-628E-C9E7-05C25DA0D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Cases for Closures</a:t>
            </a:r>
          </a:p>
        </p:txBody>
      </p:sp>
    </p:spTree>
    <p:extLst>
      <p:ext uri="{BB962C8B-B14F-4D97-AF65-F5344CB8AC3E}">
        <p14:creationId xmlns:p14="http://schemas.microsoft.com/office/powerpoint/2010/main" val="185727380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C88CB-2336-1CE3-C210-10CAC3092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FC6959-B607-9C44-46F8-1E6521B872D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IN" dirty="0"/>
              <a:t>How Closures Provide Encapsulation</a:t>
            </a:r>
          </a:p>
          <a:p>
            <a:pPr lvl="1"/>
            <a:r>
              <a:rPr lang="en-US" dirty="0"/>
              <a:t>A closure can "capture" local variables from its enclosing scope. </a:t>
            </a:r>
          </a:p>
          <a:p>
            <a:pPr lvl="1"/>
            <a:r>
              <a:rPr lang="en-US" dirty="0"/>
              <a:t>These variables become private: </a:t>
            </a:r>
          </a:p>
          <a:p>
            <a:pPr lvl="1"/>
            <a:r>
              <a:rPr lang="en-US" dirty="0"/>
              <a:t>they live if the closure does, but they're inaccessible from outside.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E723EE-A140-7D94-B2C5-C75B882C7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Cases for Closures</a:t>
            </a:r>
          </a:p>
        </p:txBody>
      </p:sp>
    </p:spTree>
    <p:extLst>
      <p:ext uri="{BB962C8B-B14F-4D97-AF65-F5344CB8AC3E}">
        <p14:creationId xmlns:p14="http://schemas.microsoft.com/office/powerpoint/2010/main" val="27102597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88D72-28CB-5B95-A062-3F94281E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E096ED-762F-374D-FB13-0A5BAE4F2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Cases for Closures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D2E719-2070-9669-E223-B270844D63ED}"/>
              </a:ext>
            </a:extLst>
          </p:cNvPr>
          <p:cNvSpPr txBox="1"/>
          <p:nvPr/>
        </p:nvSpPr>
        <p:spPr>
          <a:xfrm>
            <a:off x="990600" y="1143000"/>
            <a:ext cx="7239000" cy="563231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function </a:t>
            </a:r>
            <a:r>
              <a:rPr lang="en-IN" dirty="0" err="1"/>
              <a:t>makeAccount</a:t>
            </a:r>
            <a:r>
              <a:rPr lang="en-IN" dirty="0"/>
              <a:t>(</a:t>
            </a:r>
            <a:r>
              <a:rPr lang="en-IN" dirty="0" err="1"/>
              <a:t>initialBalance</a:t>
            </a:r>
            <a:r>
              <a:rPr lang="en-IN" dirty="0"/>
              <a:t>)</a:t>
            </a:r>
          </a:p>
          <a:p>
            <a:r>
              <a:rPr lang="en-IN" dirty="0"/>
              <a:t>    local balance = </a:t>
            </a:r>
            <a:r>
              <a:rPr lang="en-IN" dirty="0" err="1"/>
              <a:t>initialBalance</a:t>
            </a:r>
            <a:r>
              <a:rPr lang="en-IN" dirty="0"/>
              <a:t>  -- 👈 private variable</a:t>
            </a:r>
          </a:p>
          <a:p>
            <a:endParaRPr lang="en-IN" dirty="0"/>
          </a:p>
          <a:p>
            <a:r>
              <a:rPr lang="en-IN" dirty="0"/>
              <a:t>    return {</a:t>
            </a:r>
          </a:p>
          <a:p>
            <a:r>
              <a:rPr lang="en-IN" dirty="0"/>
              <a:t>        deposit = function(amount)</a:t>
            </a:r>
          </a:p>
          <a:p>
            <a:r>
              <a:rPr lang="en-IN" dirty="0"/>
              <a:t>            balance = balance + amount</a:t>
            </a:r>
          </a:p>
          <a:p>
            <a:r>
              <a:rPr lang="en-IN" dirty="0"/>
              <a:t>            return balance</a:t>
            </a:r>
          </a:p>
          <a:p>
            <a:r>
              <a:rPr lang="en-IN" dirty="0"/>
              <a:t>        end,</a:t>
            </a:r>
          </a:p>
          <a:p>
            <a:r>
              <a:rPr lang="en-IN" dirty="0"/>
              <a:t>        withdraw = function(amount)</a:t>
            </a:r>
          </a:p>
          <a:p>
            <a:r>
              <a:rPr lang="en-IN" dirty="0"/>
              <a:t>            if amount &gt; balance then</a:t>
            </a:r>
          </a:p>
          <a:p>
            <a:r>
              <a:rPr lang="en-IN" dirty="0"/>
              <a:t>                return "Insufficient funds"</a:t>
            </a:r>
          </a:p>
          <a:p>
            <a:r>
              <a:rPr lang="en-IN" dirty="0"/>
              <a:t>            end</a:t>
            </a:r>
          </a:p>
          <a:p>
            <a:r>
              <a:rPr lang="en-IN" dirty="0"/>
              <a:t>            balance = balance - amount</a:t>
            </a:r>
          </a:p>
          <a:p>
            <a:r>
              <a:rPr lang="en-IN" dirty="0"/>
              <a:t>            return balance</a:t>
            </a:r>
          </a:p>
          <a:p>
            <a:r>
              <a:rPr lang="en-IN" dirty="0"/>
              <a:t>        end,</a:t>
            </a:r>
          </a:p>
          <a:p>
            <a:r>
              <a:rPr lang="en-IN" dirty="0"/>
              <a:t>        </a:t>
            </a:r>
            <a:r>
              <a:rPr lang="en-IN" dirty="0" err="1"/>
              <a:t>getBalance</a:t>
            </a:r>
            <a:r>
              <a:rPr lang="en-IN" dirty="0"/>
              <a:t> = function()</a:t>
            </a:r>
          </a:p>
          <a:p>
            <a:r>
              <a:rPr lang="en-IN" dirty="0"/>
              <a:t>            return balance</a:t>
            </a:r>
          </a:p>
          <a:p>
            <a:r>
              <a:rPr lang="en-IN" dirty="0"/>
              <a:t>        end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97160362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313C0-1353-8F86-26A8-79A211C1E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06E435-D4F9-6394-A847-D3CFEECD7C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  <a:p>
            <a:r>
              <a:rPr lang="en-US" dirty="0"/>
              <a:t>What’s Happening:</a:t>
            </a:r>
          </a:p>
          <a:p>
            <a:pPr lvl="1"/>
            <a:r>
              <a:rPr lang="en-US" dirty="0"/>
              <a:t>balance is a local variable in the factory (</a:t>
            </a:r>
            <a:r>
              <a:rPr lang="en-US" dirty="0" err="1"/>
              <a:t>makeAccount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It is captured by the returned functions.</a:t>
            </a:r>
          </a:p>
          <a:p>
            <a:pPr lvl="1"/>
            <a:r>
              <a:rPr lang="en-US" dirty="0"/>
              <a:t>It's inaccessible from outside — even if you try, it doesn’t exist on the table.</a:t>
            </a:r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8F86BA-9C17-19B7-7F6E-0A5EF60D4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Cases for Closures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F87969-F8E8-16C6-50DD-E73EDAECC789}"/>
              </a:ext>
            </a:extLst>
          </p:cNvPr>
          <p:cNvSpPr txBox="1"/>
          <p:nvPr/>
        </p:nvSpPr>
        <p:spPr>
          <a:xfrm>
            <a:off x="762000" y="1951672"/>
            <a:ext cx="7239000" cy="1477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local </a:t>
            </a:r>
            <a:r>
              <a:rPr lang="en-IN" dirty="0" err="1"/>
              <a:t>acc</a:t>
            </a:r>
            <a:r>
              <a:rPr lang="en-IN" dirty="0"/>
              <a:t> = </a:t>
            </a:r>
            <a:r>
              <a:rPr lang="en-IN" dirty="0" err="1"/>
              <a:t>makeAccount</a:t>
            </a:r>
            <a:r>
              <a:rPr lang="en-IN" dirty="0"/>
              <a:t>(100)</a:t>
            </a:r>
          </a:p>
          <a:p>
            <a:r>
              <a:rPr lang="en-IN" dirty="0"/>
              <a:t>print(</a:t>
            </a:r>
            <a:r>
              <a:rPr lang="en-IN" dirty="0" err="1"/>
              <a:t>acc.deposit</a:t>
            </a:r>
            <a:r>
              <a:rPr lang="en-IN" dirty="0"/>
              <a:t>(50))       --&gt; 150</a:t>
            </a:r>
          </a:p>
          <a:p>
            <a:r>
              <a:rPr lang="en-IN" dirty="0"/>
              <a:t>print(</a:t>
            </a:r>
            <a:r>
              <a:rPr lang="en-IN" dirty="0" err="1"/>
              <a:t>acc.withdraw</a:t>
            </a:r>
            <a:r>
              <a:rPr lang="en-IN" dirty="0"/>
              <a:t>(70))      --&gt; 80</a:t>
            </a:r>
          </a:p>
          <a:p>
            <a:r>
              <a:rPr lang="en-IN" dirty="0"/>
              <a:t>print(</a:t>
            </a:r>
            <a:r>
              <a:rPr lang="en-IN" dirty="0" err="1"/>
              <a:t>acc.getBalance</a:t>
            </a:r>
            <a:r>
              <a:rPr lang="en-IN" dirty="0"/>
              <a:t>())      --&gt; 80</a:t>
            </a:r>
          </a:p>
          <a:p>
            <a:r>
              <a:rPr lang="en-IN" b="1" dirty="0">
                <a:solidFill>
                  <a:srgbClr val="FF0000"/>
                </a:solidFill>
              </a:rPr>
              <a:t>-- print(</a:t>
            </a:r>
            <a:r>
              <a:rPr lang="en-IN" b="1" dirty="0" err="1">
                <a:solidFill>
                  <a:srgbClr val="FF0000"/>
                </a:solidFill>
              </a:rPr>
              <a:t>acc.balance</a:t>
            </a:r>
            <a:r>
              <a:rPr lang="en-IN" b="1" dirty="0">
                <a:solidFill>
                  <a:srgbClr val="FF0000"/>
                </a:solidFill>
              </a:rPr>
              <a:t>)        --&gt; nil (encapsulated!)</a:t>
            </a:r>
          </a:p>
        </p:txBody>
      </p:sp>
    </p:spTree>
    <p:extLst>
      <p:ext uri="{BB962C8B-B14F-4D97-AF65-F5344CB8AC3E}">
        <p14:creationId xmlns:p14="http://schemas.microsoft.com/office/powerpoint/2010/main" val="198376119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4714BF-4E63-AC5B-2AB5-82AA45CAC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of Closure Encapsulation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A5A234-0577-13DF-6A31-99093705B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278585"/>
              </p:ext>
            </p:extLst>
          </p:nvPr>
        </p:nvGraphicFramePr>
        <p:xfrm>
          <a:off x="438284" y="1920240"/>
          <a:ext cx="8228012" cy="30175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685916">
                  <a:extLst>
                    <a:ext uri="{9D8B030D-6E8A-4147-A177-3AD203B41FA5}">
                      <a16:colId xmlns:a16="http://schemas.microsoft.com/office/drawing/2014/main" val="2732204919"/>
                    </a:ext>
                  </a:extLst>
                </a:gridCol>
                <a:gridCol w="5542096">
                  <a:extLst>
                    <a:ext uri="{9D8B030D-6E8A-4147-A177-3AD203B41FA5}">
                      <a16:colId xmlns:a16="http://schemas.microsoft.com/office/drawing/2014/main" val="53769029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Benefit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282243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Encapsulation</a:t>
                      </a:r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Internal state is protected from external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22679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Modularity</a:t>
                      </a:r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Self-contained reusable units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89512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No naming conflict</a:t>
                      </a:r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Captured variables are not globals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330588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Security</a:t>
                      </a:r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Prevents accidental or malicious overwrite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664912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Scoped GC</a:t>
                      </a:r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Memory managed automatically when closure dies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176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588151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F4D467-C727-1419-7C8F-22689D0EAFF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Bank accounts, user sessions, timers</a:t>
            </a:r>
          </a:p>
          <a:p>
            <a:r>
              <a:rPr lang="en-IN" dirty="0"/>
              <a:t>Encapsulating database connection state</a:t>
            </a:r>
          </a:p>
          <a:p>
            <a:r>
              <a:rPr lang="en-IN" dirty="0"/>
              <a:t>Plugins or modules with private config</a:t>
            </a:r>
          </a:p>
          <a:p>
            <a:r>
              <a:rPr lang="en-IN" dirty="0"/>
              <a:t>Reusable UI components in Lua-based game engines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3C023B-1539-62D6-CE4C-57E2DEB4C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Real-World Use Cases</a:t>
            </a:r>
          </a:p>
        </p:txBody>
      </p:sp>
    </p:spTree>
    <p:extLst>
      <p:ext uri="{BB962C8B-B14F-4D97-AF65-F5344CB8AC3E}">
        <p14:creationId xmlns:p14="http://schemas.microsoft.com/office/powerpoint/2010/main" val="327225373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2396E3-C9A7-4A52-7F5C-150E8CF40051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 first-class value means:</a:t>
            </a:r>
          </a:p>
          <a:p>
            <a:pPr lvl="1"/>
            <a:r>
              <a:rPr lang="en-US" dirty="0"/>
              <a:t>A value that can be assigned to variables, passed as arguments, returned from other functions, and stored in tables.</a:t>
            </a:r>
          </a:p>
          <a:p>
            <a:pPr lvl="1"/>
            <a:r>
              <a:rPr lang="en-US" dirty="0"/>
              <a:t>In Lua, functions are first-class citizens.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7BC117-115E-D842-9D5F-9AFC02C2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as First-Class Values in Lua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745083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F753F4-7CAF-319A-FCBB-3DA04E8F5A1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local function </a:t>
            </a:r>
            <a:r>
              <a:rPr lang="en-US" dirty="0" err="1"/>
              <a:t>sayHello</a:t>
            </a:r>
            <a:r>
              <a:rPr lang="en-US" dirty="0"/>
              <a:t>()</a:t>
            </a:r>
          </a:p>
          <a:p>
            <a:r>
              <a:rPr lang="en-US" dirty="0"/>
              <a:t>    print("Hello!")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  <a:p>
            <a:r>
              <a:rPr lang="en-US" dirty="0"/>
              <a:t>-- or anonymously:</a:t>
            </a:r>
          </a:p>
          <a:p>
            <a:r>
              <a:rPr lang="en-US" dirty="0"/>
              <a:t>local greet = function()</a:t>
            </a:r>
          </a:p>
          <a:p>
            <a:r>
              <a:rPr lang="en-US" dirty="0"/>
              <a:t>    print("Hi there!")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  <a:p>
            <a:r>
              <a:rPr lang="en-US" dirty="0"/>
              <a:t>greet()  --&gt; Hi there!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FD43BA-77EE-CA1C-C0D3-59575BB26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Assigning Functions to Variables</a:t>
            </a:r>
          </a:p>
        </p:txBody>
      </p:sp>
    </p:spTree>
    <p:extLst>
      <p:ext uri="{BB962C8B-B14F-4D97-AF65-F5344CB8AC3E}">
        <p14:creationId xmlns:p14="http://schemas.microsoft.com/office/powerpoint/2010/main" val="413500075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DCDCB-E2A6-187F-BEC3-AD15E0288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14433A-D771-7D4B-5AA6-288FC5E8703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 apply(f, x)</a:t>
            </a:r>
          </a:p>
          <a:p>
            <a:r>
              <a:rPr lang="en-US" dirty="0"/>
              <a:t>    return f(x)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  <a:p>
            <a:r>
              <a:rPr lang="en-US" dirty="0"/>
              <a:t>function square(n)</a:t>
            </a:r>
          </a:p>
          <a:p>
            <a:r>
              <a:rPr lang="en-US" dirty="0"/>
              <a:t>    return n * n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  <a:p>
            <a:r>
              <a:rPr lang="en-US" dirty="0"/>
              <a:t>print(apply(square, 5))  --&gt; 25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D68D54-7D78-137F-06F3-A3631A6AE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Passing Functions as Arguments</a:t>
            </a:r>
          </a:p>
        </p:txBody>
      </p:sp>
    </p:spTree>
    <p:extLst>
      <p:ext uri="{BB962C8B-B14F-4D97-AF65-F5344CB8AC3E}">
        <p14:creationId xmlns:p14="http://schemas.microsoft.com/office/powerpoint/2010/main" val="213808748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56E1B-8B2C-006C-4C55-206B7EB57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DD71DB-CD66-2152-006E-F6ABC36DE81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 </a:t>
            </a:r>
            <a:r>
              <a:rPr lang="en-US" dirty="0" err="1"/>
              <a:t>makeMultiplier</a:t>
            </a:r>
            <a:r>
              <a:rPr lang="en-US" dirty="0"/>
              <a:t>(factor)</a:t>
            </a:r>
          </a:p>
          <a:p>
            <a:r>
              <a:rPr lang="en-US" dirty="0"/>
              <a:t>    return function(x)</a:t>
            </a:r>
          </a:p>
          <a:p>
            <a:r>
              <a:rPr lang="en-US" dirty="0"/>
              <a:t>        return x * factor</a:t>
            </a:r>
          </a:p>
          <a:p>
            <a:r>
              <a:rPr lang="en-US" dirty="0"/>
              <a:t>    end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  <a:p>
            <a:r>
              <a:rPr lang="en-US" dirty="0"/>
              <a:t>local double = </a:t>
            </a:r>
            <a:r>
              <a:rPr lang="en-US" dirty="0" err="1"/>
              <a:t>makeMultiplier</a:t>
            </a:r>
            <a:r>
              <a:rPr lang="en-US" dirty="0"/>
              <a:t>(2)</a:t>
            </a:r>
          </a:p>
          <a:p>
            <a:r>
              <a:rPr lang="en-US" dirty="0"/>
              <a:t>print(double(10))  --&gt; 20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7E64EA-4399-86CC-DA1F-4AA17F3E9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Returning Functions from Functions</a:t>
            </a:r>
          </a:p>
        </p:txBody>
      </p:sp>
    </p:spTree>
    <p:extLst>
      <p:ext uri="{BB962C8B-B14F-4D97-AF65-F5344CB8AC3E}">
        <p14:creationId xmlns:p14="http://schemas.microsoft.com/office/powerpoint/2010/main" val="156302870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2BCF31-F992-F8B2-37CB-4FF444DE53D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In Lua, if you define a function without local, it becomes global:</a:t>
            </a:r>
          </a:p>
          <a:p>
            <a:r>
              <a:rPr lang="en-US" dirty="0"/>
              <a:t>function </a:t>
            </a:r>
            <a:r>
              <a:rPr lang="en-US" dirty="0" err="1"/>
              <a:t>globalFunc</a:t>
            </a:r>
            <a:r>
              <a:rPr lang="en-US" dirty="0"/>
              <a:t>()</a:t>
            </a:r>
          </a:p>
          <a:p>
            <a:r>
              <a:rPr lang="en-US" dirty="0"/>
              <a:t>    print("I'm global!")</a:t>
            </a:r>
          </a:p>
          <a:p>
            <a:r>
              <a:rPr lang="en-US" dirty="0"/>
              <a:t>End</a:t>
            </a:r>
          </a:p>
          <a:p>
            <a:r>
              <a:rPr lang="en-US" dirty="0"/>
              <a:t>This is equivalent to:</a:t>
            </a:r>
          </a:p>
          <a:p>
            <a:r>
              <a:rPr lang="en-US" dirty="0"/>
              <a:t>_G["</a:t>
            </a:r>
            <a:r>
              <a:rPr lang="en-US" dirty="0" err="1"/>
              <a:t>globalFunc</a:t>
            </a:r>
            <a:r>
              <a:rPr lang="en-US" dirty="0"/>
              <a:t>"] = function()</a:t>
            </a:r>
          </a:p>
          <a:p>
            <a:r>
              <a:rPr lang="en-US" dirty="0"/>
              <a:t>    print("I'm global!")</a:t>
            </a:r>
          </a:p>
          <a:p>
            <a:r>
              <a:rPr lang="en-US" dirty="0"/>
              <a:t>end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BE8349-870A-D655-218E-8B978A5B3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Non-Global Functions</a:t>
            </a:r>
          </a:p>
        </p:txBody>
      </p:sp>
    </p:spTree>
    <p:extLst>
      <p:ext uri="{BB962C8B-B14F-4D97-AF65-F5344CB8AC3E}">
        <p14:creationId xmlns:p14="http://schemas.microsoft.com/office/powerpoint/2010/main" val="62416136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6B3B0-BCBF-D953-BCC7-50F665912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0E01B-AC39-015B-A389-E40174924BC1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local function </a:t>
            </a:r>
            <a:r>
              <a:rPr lang="en-US" dirty="0" err="1"/>
              <a:t>localFunc</a:t>
            </a:r>
            <a:r>
              <a:rPr lang="en-US" dirty="0"/>
              <a:t>()</a:t>
            </a:r>
          </a:p>
          <a:p>
            <a:r>
              <a:rPr lang="en-US" dirty="0"/>
              <a:t>    print("I'm local to this file or block!")</a:t>
            </a:r>
          </a:p>
          <a:p>
            <a:r>
              <a:rPr lang="en-US" dirty="0"/>
              <a:t>end</a:t>
            </a:r>
          </a:p>
          <a:p>
            <a:pPr lvl="1"/>
            <a:r>
              <a:rPr lang="en-US" dirty="0"/>
              <a:t>Exists only in current scope (block, file, or function)</a:t>
            </a:r>
          </a:p>
          <a:p>
            <a:pPr lvl="1"/>
            <a:r>
              <a:rPr lang="en-US" dirty="0"/>
              <a:t>Not visible globally</a:t>
            </a:r>
          </a:p>
          <a:p>
            <a:pPr lvl="1"/>
            <a:r>
              <a:rPr lang="en-US" dirty="0"/>
              <a:t>Safer and preferred for modularity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D6DBAF-F322-D289-D264-611E77AB1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Local / Non-Global Function</a:t>
            </a:r>
          </a:p>
        </p:txBody>
      </p:sp>
    </p:spTree>
    <p:extLst>
      <p:ext uri="{BB962C8B-B14F-4D97-AF65-F5344CB8AC3E}">
        <p14:creationId xmlns:p14="http://schemas.microsoft.com/office/powerpoint/2010/main" val="283205492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BF67FC-EFCD-6902-2C08-8F29C5F9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Summary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92E035-8E4F-1326-D3EB-29EC18F3B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778431"/>
              </p:ext>
            </p:extLst>
          </p:nvPr>
        </p:nvGraphicFramePr>
        <p:xfrm>
          <a:off x="623694" y="1381125"/>
          <a:ext cx="7895026" cy="482441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419479">
                  <a:extLst>
                    <a:ext uri="{9D8B030D-6E8A-4147-A177-3AD203B41FA5}">
                      <a16:colId xmlns:a16="http://schemas.microsoft.com/office/drawing/2014/main" val="2488717421"/>
                    </a:ext>
                  </a:extLst>
                </a:gridCol>
                <a:gridCol w="4475547">
                  <a:extLst>
                    <a:ext uri="{9D8B030D-6E8A-4147-A177-3AD203B41FA5}">
                      <a16:colId xmlns:a16="http://schemas.microsoft.com/office/drawing/2014/main" val="942684747"/>
                    </a:ext>
                  </a:extLst>
                </a:gridCol>
              </a:tblGrid>
              <a:tr h="576833">
                <a:tc>
                  <a:txBody>
                    <a:bodyPr/>
                    <a:lstStyle/>
                    <a:p>
                      <a:r>
                        <a:rPr lang="en-IN" sz="2600"/>
                        <a:t>Feature</a:t>
                      </a:r>
                    </a:p>
                  </a:txBody>
                  <a:tcPr marL="131098" marR="131098" marT="65549" marB="65549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Example</a:t>
                      </a:r>
                    </a:p>
                  </a:txBody>
                  <a:tcPr marL="131098" marR="131098" marT="65549" marB="65549" anchor="ctr"/>
                </a:tc>
                <a:extLst>
                  <a:ext uri="{0D108BD9-81ED-4DB2-BD59-A6C34878D82A}">
                    <a16:rowId xmlns:a16="http://schemas.microsoft.com/office/drawing/2014/main" val="426253905"/>
                  </a:ext>
                </a:extLst>
              </a:tr>
              <a:tr h="576833">
                <a:tc>
                  <a:txBody>
                    <a:bodyPr/>
                    <a:lstStyle/>
                    <a:p>
                      <a:r>
                        <a:rPr lang="en-IN" sz="2600"/>
                        <a:t>Assign to variable</a:t>
                      </a:r>
                    </a:p>
                  </a:txBody>
                  <a:tcPr marL="131098" marR="131098" marT="65549" marB="65549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local f = function() end</a:t>
                      </a:r>
                    </a:p>
                  </a:txBody>
                  <a:tcPr marL="131098" marR="131098" marT="65549" marB="65549" anchor="ctr"/>
                </a:tc>
                <a:extLst>
                  <a:ext uri="{0D108BD9-81ED-4DB2-BD59-A6C34878D82A}">
                    <a16:rowId xmlns:a16="http://schemas.microsoft.com/office/drawing/2014/main" val="417771065"/>
                  </a:ext>
                </a:extLst>
              </a:tr>
              <a:tr h="576833">
                <a:tc>
                  <a:txBody>
                    <a:bodyPr/>
                    <a:lstStyle/>
                    <a:p>
                      <a:r>
                        <a:rPr lang="en-IN" sz="2600"/>
                        <a:t>Pass as argument</a:t>
                      </a:r>
                    </a:p>
                  </a:txBody>
                  <a:tcPr marL="131098" marR="131098" marT="65549" marB="65549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apply(f, x)</a:t>
                      </a:r>
                    </a:p>
                  </a:txBody>
                  <a:tcPr marL="131098" marR="131098" marT="65549" marB="65549" anchor="ctr"/>
                </a:tc>
                <a:extLst>
                  <a:ext uri="{0D108BD9-81ED-4DB2-BD59-A6C34878D82A}">
                    <a16:rowId xmlns:a16="http://schemas.microsoft.com/office/drawing/2014/main" val="1297234969"/>
                  </a:ext>
                </a:extLst>
              </a:tr>
              <a:tr h="576833">
                <a:tc>
                  <a:txBody>
                    <a:bodyPr/>
                    <a:lstStyle/>
                    <a:p>
                      <a:r>
                        <a:rPr lang="en-IN" sz="2600"/>
                        <a:t>Return from function</a:t>
                      </a:r>
                    </a:p>
                  </a:txBody>
                  <a:tcPr marL="131098" marR="131098" marT="65549" marB="65549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return function() end</a:t>
                      </a:r>
                    </a:p>
                  </a:txBody>
                  <a:tcPr marL="131098" marR="131098" marT="65549" marB="65549" anchor="ctr"/>
                </a:tc>
                <a:extLst>
                  <a:ext uri="{0D108BD9-81ED-4DB2-BD59-A6C34878D82A}">
                    <a16:rowId xmlns:a16="http://schemas.microsoft.com/office/drawing/2014/main" val="1180539164"/>
                  </a:ext>
                </a:extLst>
              </a:tr>
              <a:tr h="970127">
                <a:tc>
                  <a:txBody>
                    <a:bodyPr/>
                    <a:lstStyle/>
                    <a:p>
                      <a:r>
                        <a:rPr lang="en-IN" sz="2600"/>
                        <a:t>Stored in table</a:t>
                      </a:r>
                    </a:p>
                  </a:txBody>
                  <a:tcPr marL="131098" marR="131098" marT="65549" marB="65549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tbl.handler = function() ... end</a:t>
                      </a:r>
                    </a:p>
                  </a:txBody>
                  <a:tcPr marL="131098" marR="131098" marT="65549" marB="65549" anchor="ctr"/>
                </a:tc>
                <a:extLst>
                  <a:ext uri="{0D108BD9-81ED-4DB2-BD59-A6C34878D82A}">
                    <a16:rowId xmlns:a16="http://schemas.microsoft.com/office/drawing/2014/main" val="2072722846"/>
                  </a:ext>
                </a:extLst>
              </a:tr>
              <a:tr h="576833">
                <a:tc>
                  <a:txBody>
                    <a:bodyPr/>
                    <a:lstStyle/>
                    <a:p>
                      <a:r>
                        <a:rPr lang="en-IN" sz="2600"/>
                        <a:t>Local function</a:t>
                      </a:r>
                    </a:p>
                  </a:txBody>
                  <a:tcPr marL="131098" marR="131098" marT="65549" marB="65549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local function myFunc() end</a:t>
                      </a:r>
                    </a:p>
                  </a:txBody>
                  <a:tcPr marL="131098" marR="131098" marT="65549" marB="65549" anchor="ctr"/>
                </a:tc>
                <a:extLst>
                  <a:ext uri="{0D108BD9-81ED-4DB2-BD59-A6C34878D82A}">
                    <a16:rowId xmlns:a16="http://schemas.microsoft.com/office/drawing/2014/main" val="3902132040"/>
                  </a:ext>
                </a:extLst>
              </a:tr>
              <a:tr h="970127">
                <a:tc>
                  <a:txBody>
                    <a:bodyPr/>
                    <a:lstStyle/>
                    <a:p>
                      <a:r>
                        <a:rPr lang="en-IN" sz="2600"/>
                        <a:t>Global function (not recommended)</a:t>
                      </a:r>
                    </a:p>
                  </a:txBody>
                  <a:tcPr marL="131098" marR="131098" marT="65549" marB="65549" anchor="ctr"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function </a:t>
                      </a:r>
                      <a:r>
                        <a:rPr lang="en-IN" sz="2600" dirty="0" err="1"/>
                        <a:t>myFunc</a:t>
                      </a:r>
                      <a:r>
                        <a:rPr lang="en-IN" sz="2600" dirty="0"/>
                        <a:t>() end</a:t>
                      </a:r>
                    </a:p>
                  </a:txBody>
                  <a:tcPr marL="131098" marR="131098" marT="65549" marB="65549" anchor="ctr"/>
                </a:tc>
                <a:extLst>
                  <a:ext uri="{0D108BD9-81ED-4DB2-BD59-A6C34878D82A}">
                    <a16:rowId xmlns:a16="http://schemas.microsoft.com/office/drawing/2014/main" val="1130719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237245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CA6A40-C670-0FF5-F7DE-0F46A77D40E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1133475"/>
          </a:xfrm>
        </p:spPr>
        <p:txBody>
          <a:bodyPr/>
          <a:lstStyle/>
          <a:p>
            <a:r>
              <a:rPr lang="en-US" dirty="0"/>
              <a:t>startIndex, </a:t>
            </a:r>
            <a:r>
              <a:rPr lang="en-US" dirty="0" err="1"/>
              <a:t>endIndex</a:t>
            </a:r>
            <a:r>
              <a:rPr lang="en-US" dirty="0"/>
              <a:t> = </a:t>
            </a:r>
            <a:r>
              <a:rPr lang="en-US" dirty="0" err="1"/>
              <a:t>string.find</a:t>
            </a:r>
            <a:r>
              <a:rPr lang="en-US" dirty="0"/>
              <a:t>(subject, pattern [, </a:t>
            </a:r>
            <a:r>
              <a:rPr lang="en-US" dirty="0" err="1"/>
              <a:t>init</a:t>
            </a:r>
            <a:r>
              <a:rPr lang="en-US" dirty="0"/>
              <a:t> [, plain]])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F1B2B1-065D-ADCB-945D-292B0F0BF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String.find</a:t>
            </a: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526CEB1-9731-11C6-3075-189C5947C8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602926"/>
              </p:ext>
            </p:extLst>
          </p:nvPr>
        </p:nvGraphicFramePr>
        <p:xfrm>
          <a:off x="457200" y="2667000"/>
          <a:ext cx="8228012" cy="26517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3056889188"/>
                    </a:ext>
                  </a:extLst>
                </a:gridCol>
                <a:gridCol w="6094412">
                  <a:extLst>
                    <a:ext uri="{9D8B030D-6E8A-4147-A177-3AD203B41FA5}">
                      <a16:colId xmlns:a16="http://schemas.microsoft.com/office/drawing/2014/main" val="65304219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467182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subject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The string to search 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377621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/>
                        <a:t>pattern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The substring or Lua pattern to search for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296819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/>
                        <a:t>init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(optional) Index to start the search (default is 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716426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/>
                        <a:t>plain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(optional) If true, disables pattern matching (literal match)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8353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060292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C7585-7BEB-50AD-53E2-94C67830B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A3A06E-F65B-B83E-BA17-ADF4AA67001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4867275"/>
          </a:xfrm>
        </p:spPr>
        <p:txBody>
          <a:bodyPr/>
          <a:lstStyle/>
          <a:p>
            <a:r>
              <a:rPr lang="en-US" dirty="0"/>
              <a:t>local s = "Hello, Lua!"</a:t>
            </a:r>
          </a:p>
          <a:p>
            <a:r>
              <a:rPr lang="en-US" dirty="0"/>
              <a:t>local </a:t>
            </a:r>
            <a:r>
              <a:rPr lang="en-US" dirty="0" err="1"/>
              <a:t>i</a:t>
            </a:r>
            <a:r>
              <a:rPr lang="en-US" dirty="0"/>
              <a:t>, j = </a:t>
            </a:r>
            <a:r>
              <a:rPr lang="en-US" dirty="0" err="1"/>
              <a:t>string.find</a:t>
            </a:r>
            <a:r>
              <a:rPr lang="en-US" dirty="0"/>
              <a:t>(s, "Lua")</a:t>
            </a:r>
          </a:p>
          <a:p>
            <a:r>
              <a:rPr lang="en-US" dirty="0"/>
              <a:t>print(</a:t>
            </a:r>
            <a:r>
              <a:rPr lang="en-US" dirty="0" err="1"/>
              <a:t>i</a:t>
            </a:r>
            <a:r>
              <a:rPr lang="en-US" dirty="0"/>
              <a:t>, j)  --&gt; 8 10</a:t>
            </a:r>
          </a:p>
          <a:p>
            <a:r>
              <a:rPr lang="en-US" dirty="0"/>
              <a:t>print(</a:t>
            </a:r>
            <a:r>
              <a:rPr lang="en-US" dirty="0" err="1"/>
              <a:t>s:sub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j))  --&gt; Lua</a:t>
            </a:r>
          </a:p>
          <a:p>
            <a:endParaRPr lang="en-US" dirty="0"/>
          </a:p>
          <a:p>
            <a:r>
              <a:rPr lang="en-US" dirty="0" err="1"/>
              <a:t>i</a:t>
            </a:r>
            <a:r>
              <a:rPr lang="en-US" dirty="0"/>
              <a:t> and j start index and end index of result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AD1508-35CE-457D-08C2-D87FDD762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String.find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754191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0C6F2-4055-A10A-D32D-72C9994CC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8C5E29-D0C6-A971-FE85-A4BE463E6F7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4867275"/>
          </a:xfrm>
        </p:spPr>
        <p:txBody>
          <a:bodyPr/>
          <a:lstStyle/>
          <a:p>
            <a:r>
              <a:rPr lang="en-US" dirty="0"/>
              <a:t>local s = "Lua is Lua"</a:t>
            </a:r>
          </a:p>
          <a:p>
            <a:r>
              <a:rPr lang="en-US" dirty="0"/>
              <a:t>print(</a:t>
            </a:r>
            <a:r>
              <a:rPr lang="en-US" dirty="0" err="1"/>
              <a:t>string.find</a:t>
            </a:r>
            <a:r>
              <a:rPr lang="en-US" dirty="0"/>
              <a:t>(s, "Lua", 5)) --&gt; 8 10 (starts searching from index 5)</a:t>
            </a:r>
          </a:p>
          <a:p>
            <a:r>
              <a:rPr lang="en-IN" dirty="0"/>
              <a:t>Starts search from 5</a:t>
            </a:r>
            <a:r>
              <a:rPr lang="en-IN" baseline="30000" dirty="0"/>
              <a:t>th</a:t>
            </a:r>
            <a:r>
              <a:rPr lang="en-IN" dirty="0"/>
              <a:t> position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D5DFBB-F416-1472-7B31-78FED0C85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String.find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684751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F6833-48E4-E82A-42C3-DC31203C1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5DA9BE-A7CC-5ED8-BFCA-A2FC26C905A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4867275"/>
          </a:xfrm>
        </p:spPr>
        <p:txBody>
          <a:bodyPr/>
          <a:lstStyle/>
          <a:p>
            <a:r>
              <a:rPr lang="en-US" dirty="0"/>
              <a:t>if </a:t>
            </a:r>
            <a:r>
              <a:rPr lang="en-US" dirty="0" err="1"/>
              <a:t>string.find</a:t>
            </a:r>
            <a:r>
              <a:rPr lang="en-US" dirty="0"/>
              <a:t>("hello world", "world") then</a:t>
            </a:r>
          </a:p>
          <a:p>
            <a:r>
              <a:rPr lang="en-US" dirty="0"/>
              <a:t>    print("Found")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    print("Not found")</a:t>
            </a:r>
          </a:p>
          <a:p>
            <a:r>
              <a:rPr lang="en-US" dirty="0"/>
              <a:t>End</a:t>
            </a:r>
          </a:p>
          <a:p>
            <a:r>
              <a:rPr lang="en-US" dirty="0"/>
              <a:t>print(</a:t>
            </a:r>
            <a:r>
              <a:rPr lang="en-US" dirty="0" err="1"/>
              <a:t>string.find</a:t>
            </a:r>
            <a:r>
              <a:rPr lang="en-US" dirty="0"/>
              <a:t>("</a:t>
            </a:r>
            <a:r>
              <a:rPr lang="en-US" dirty="0" err="1"/>
              <a:t>abc</a:t>
            </a:r>
            <a:r>
              <a:rPr lang="en-US" dirty="0"/>
              <a:t>", "</a:t>
            </a:r>
            <a:r>
              <a:rPr lang="en-US" dirty="0" err="1"/>
              <a:t>xyz</a:t>
            </a:r>
            <a:r>
              <a:rPr lang="en-US" dirty="0"/>
              <a:t>")) --&gt; nil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9535CA-88D1-891C-BBF0-1E0407E28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String.find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907827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1B3356-8E37-B2D4-19C9-FE4499C4F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Lua Pattern Character Classes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E26C73-DC53-164C-B448-F052BD000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157763"/>
              </p:ext>
            </p:extLst>
          </p:nvPr>
        </p:nvGraphicFramePr>
        <p:xfrm>
          <a:off x="743996" y="1381125"/>
          <a:ext cx="7654423" cy="482441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631788">
                  <a:extLst>
                    <a:ext uri="{9D8B030D-6E8A-4147-A177-3AD203B41FA5}">
                      <a16:colId xmlns:a16="http://schemas.microsoft.com/office/drawing/2014/main" val="1795350455"/>
                    </a:ext>
                  </a:extLst>
                </a:gridCol>
                <a:gridCol w="3090148">
                  <a:extLst>
                    <a:ext uri="{9D8B030D-6E8A-4147-A177-3AD203B41FA5}">
                      <a16:colId xmlns:a16="http://schemas.microsoft.com/office/drawing/2014/main" val="2012252359"/>
                    </a:ext>
                  </a:extLst>
                </a:gridCol>
                <a:gridCol w="2932487">
                  <a:extLst>
                    <a:ext uri="{9D8B030D-6E8A-4147-A177-3AD203B41FA5}">
                      <a16:colId xmlns:a16="http://schemas.microsoft.com/office/drawing/2014/main" val="496825937"/>
                    </a:ext>
                  </a:extLst>
                </a:gridCol>
              </a:tblGrid>
              <a:tr h="624336">
                <a:tc>
                  <a:txBody>
                    <a:bodyPr/>
                    <a:lstStyle/>
                    <a:p>
                      <a:r>
                        <a:rPr lang="en-IN" sz="2800"/>
                        <a:t>Pattern</a:t>
                      </a:r>
                    </a:p>
                  </a:txBody>
                  <a:tcPr marL="141895" marR="141895" marT="70947" marB="7094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Meaning</a:t>
                      </a:r>
                    </a:p>
                  </a:txBody>
                  <a:tcPr marL="141895" marR="141895" marT="70947" marB="7094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Example Match</a:t>
                      </a:r>
                    </a:p>
                  </a:txBody>
                  <a:tcPr marL="141895" marR="141895" marT="70947" marB="70947" anchor="ctr"/>
                </a:tc>
                <a:extLst>
                  <a:ext uri="{0D108BD9-81ED-4DB2-BD59-A6C34878D82A}">
                    <a16:rowId xmlns:a16="http://schemas.microsoft.com/office/drawing/2014/main" val="1930743947"/>
                  </a:ext>
                </a:extLst>
              </a:tr>
              <a:tr h="1050020">
                <a:tc>
                  <a:txBody>
                    <a:bodyPr/>
                    <a:lstStyle/>
                    <a:p>
                      <a:r>
                        <a:rPr lang="en-IN" sz="2800"/>
                        <a:t>%u</a:t>
                      </a:r>
                    </a:p>
                  </a:txBody>
                  <a:tcPr marL="141895" marR="141895" marT="70947" marB="7094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Uppercase letter (A–Z)</a:t>
                      </a:r>
                    </a:p>
                  </a:txBody>
                  <a:tcPr marL="141895" marR="141895" marT="70947" marB="7094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"A", "Z"</a:t>
                      </a:r>
                    </a:p>
                  </a:txBody>
                  <a:tcPr marL="141895" marR="141895" marT="70947" marB="70947" anchor="ctr"/>
                </a:tc>
                <a:extLst>
                  <a:ext uri="{0D108BD9-81ED-4DB2-BD59-A6C34878D82A}">
                    <a16:rowId xmlns:a16="http://schemas.microsoft.com/office/drawing/2014/main" val="3129883373"/>
                  </a:ext>
                </a:extLst>
              </a:tr>
              <a:tr h="1050020">
                <a:tc>
                  <a:txBody>
                    <a:bodyPr/>
                    <a:lstStyle/>
                    <a:p>
                      <a:r>
                        <a:rPr lang="en-IN" sz="2800"/>
                        <a:t>%l</a:t>
                      </a:r>
                    </a:p>
                  </a:txBody>
                  <a:tcPr marL="141895" marR="141895" marT="70947" marB="7094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Lowercase letter (a–z)</a:t>
                      </a:r>
                    </a:p>
                  </a:txBody>
                  <a:tcPr marL="141895" marR="141895" marT="70947" marB="7094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"a", "z"</a:t>
                      </a:r>
                    </a:p>
                  </a:txBody>
                  <a:tcPr marL="141895" marR="141895" marT="70947" marB="70947" anchor="ctr"/>
                </a:tc>
                <a:extLst>
                  <a:ext uri="{0D108BD9-81ED-4DB2-BD59-A6C34878D82A}">
                    <a16:rowId xmlns:a16="http://schemas.microsoft.com/office/drawing/2014/main" val="1877347537"/>
                  </a:ext>
                </a:extLst>
              </a:tr>
              <a:tr h="1050020">
                <a:tc>
                  <a:txBody>
                    <a:bodyPr/>
                    <a:lstStyle/>
                    <a:p>
                      <a:r>
                        <a:rPr lang="en-IN" sz="2800"/>
                        <a:t>%p</a:t>
                      </a:r>
                    </a:p>
                  </a:txBody>
                  <a:tcPr marL="141895" marR="141895" marT="70947" marB="7094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Punctuation character</a:t>
                      </a:r>
                    </a:p>
                  </a:txBody>
                  <a:tcPr marL="141895" marR="141895" marT="70947" marB="7094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".", ",", "!", "?", etc.</a:t>
                      </a:r>
                    </a:p>
                  </a:txBody>
                  <a:tcPr marL="141895" marR="141895" marT="70947" marB="70947" anchor="ctr"/>
                </a:tc>
                <a:extLst>
                  <a:ext uri="{0D108BD9-81ED-4DB2-BD59-A6C34878D82A}">
                    <a16:rowId xmlns:a16="http://schemas.microsoft.com/office/drawing/2014/main" val="1230868786"/>
                  </a:ext>
                </a:extLst>
              </a:tr>
              <a:tr h="1050020">
                <a:tc>
                  <a:txBody>
                    <a:bodyPr/>
                    <a:lstStyle/>
                    <a:p>
                      <a:r>
                        <a:rPr lang="en-IN" sz="2800"/>
                        <a:t>%s</a:t>
                      </a:r>
                    </a:p>
                  </a:txBody>
                  <a:tcPr marL="141895" marR="141895" marT="70947" marB="7094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Whitespace character</a:t>
                      </a:r>
                    </a:p>
                  </a:txBody>
                  <a:tcPr marL="141895" marR="141895" marT="70947" marB="70947" anchor="ctr"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" ", "\t", "\n", "\r"</a:t>
                      </a:r>
                    </a:p>
                  </a:txBody>
                  <a:tcPr marL="141895" marR="141895" marT="70947" marB="70947" anchor="ctr"/>
                </a:tc>
                <a:extLst>
                  <a:ext uri="{0D108BD9-81ED-4DB2-BD59-A6C34878D82A}">
                    <a16:rowId xmlns:a16="http://schemas.microsoft.com/office/drawing/2014/main" val="3527543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364831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0D42A5-674D-1435-7787-D9634E79D1E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local password = "Hello@123"</a:t>
            </a:r>
          </a:p>
          <a:p>
            <a:endParaRPr lang="en-IN" dirty="0"/>
          </a:p>
          <a:p>
            <a:r>
              <a:rPr lang="en-IN" dirty="0"/>
              <a:t>if </a:t>
            </a:r>
            <a:r>
              <a:rPr lang="en-IN" dirty="0" err="1"/>
              <a:t>string.match</a:t>
            </a:r>
            <a:r>
              <a:rPr lang="en-IN" dirty="0"/>
              <a:t>(password, "%u") and     -- has uppercase</a:t>
            </a:r>
          </a:p>
          <a:p>
            <a:r>
              <a:rPr lang="en-IN" dirty="0"/>
              <a:t>   </a:t>
            </a:r>
            <a:r>
              <a:rPr lang="en-IN" dirty="0" err="1"/>
              <a:t>string.match</a:t>
            </a:r>
            <a:r>
              <a:rPr lang="en-IN" dirty="0"/>
              <a:t>(password, "%l") and     -- has lowercase</a:t>
            </a:r>
          </a:p>
          <a:p>
            <a:r>
              <a:rPr lang="en-IN" dirty="0"/>
              <a:t>   </a:t>
            </a:r>
            <a:r>
              <a:rPr lang="en-IN" dirty="0" err="1"/>
              <a:t>string.match</a:t>
            </a:r>
            <a:r>
              <a:rPr lang="en-IN" dirty="0"/>
              <a:t>(password, "%d") and     -- has digit</a:t>
            </a:r>
          </a:p>
          <a:p>
            <a:r>
              <a:rPr lang="en-IN" dirty="0"/>
              <a:t>   </a:t>
            </a:r>
            <a:r>
              <a:rPr lang="en-IN" dirty="0" err="1"/>
              <a:t>string.match</a:t>
            </a:r>
            <a:r>
              <a:rPr lang="en-IN" dirty="0"/>
              <a:t>(password, "%p") and     -- has punctuation</a:t>
            </a:r>
          </a:p>
          <a:p>
            <a:r>
              <a:rPr lang="en-IN" dirty="0"/>
              <a:t>   </a:t>
            </a:r>
            <a:r>
              <a:rPr lang="en-IN" dirty="0" err="1"/>
              <a:t>string.len</a:t>
            </a:r>
            <a:r>
              <a:rPr lang="en-IN" dirty="0"/>
              <a:t>(password) &gt;= 8 then       -- length check</a:t>
            </a:r>
          </a:p>
          <a:p>
            <a:endParaRPr lang="en-IN" dirty="0"/>
          </a:p>
          <a:p>
            <a:r>
              <a:rPr lang="en-IN" dirty="0"/>
              <a:t>    print("Valid password")</a:t>
            </a:r>
          </a:p>
          <a:p>
            <a:r>
              <a:rPr lang="en-IN" dirty="0"/>
              <a:t>else</a:t>
            </a:r>
          </a:p>
          <a:p>
            <a:r>
              <a:rPr lang="en-IN" dirty="0"/>
              <a:t>    print("Invalid password")</a:t>
            </a:r>
          </a:p>
          <a:p>
            <a:r>
              <a:rPr lang="en-IN" dirty="0"/>
              <a:t>end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FACE68-CBC6-2D0B-3BA1-0D07535A9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String.match</a:t>
            </a:r>
          </a:p>
        </p:txBody>
      </p:sp>
    </p:spTree>
    <p:extLst>
      <p:ext uri="{BB962C8B-B14F-4D97-AF65-F5344CB8AC3E}">
        <p14:creationId xmlns:p14="http://schemas.microsoft.com/office/powerpoint/2010/main" val="292945080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6E9DF9-E5A1-DE1A-1372-CF8382A7F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 Inverted Match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976F4C-E25C-C6B6-95CA-9DEE4575B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277932"/>
              </p:ext>
            </p:extLst>
          </p:nvPr>
        </p:nvGraphicFramePr>
        <p:xfrm>
          <a:off x="927656" y="2318100"/>
          <a:ext cx="7287103" cy="295046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927860">
                  <a:extLst>
                    <a:ext uri="{9D8B030D-6E8A-4147-A177-3AD203B41FA5}">
                      <a16:colId xmlns:a16="http://schemas.microsoft.com/office/drawing/2014/main" val="4133948429"/>
                    </a:ext>
                  </a:extLst>
                </a:gridCol>
                <a:gridCol w="5359243">
                  <a:extLst>
                    <a:ext uri="{9D8B030D-6E8A-4147-A177-3AD203B41FA5}">
                      <a16:colId xmlns:a16="http://schemas.microsoft.com/office/drawing/2014/main" val="3842295928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en-IN" sz="3300"/>
                        <a:t>Pattern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r>
                        <a:rPr lang="en-IN" sz="3300"/>
                        <a:t>Matches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1137587298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IN" sz="3300"/>
                        <a:t>%S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r>
                        <a:rPr lang="en-IN" sz="3300"/>
                        <a:t>Non-space character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3225093210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IN" sz="3300"/>
                        <a:t>%P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r>
                        <a:rPr lang="en-IN" sz="3300"/>
                        <a:t>Non-punctuation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2738611938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IN" sz="3300"/>
                        <a:t>%U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r>
                        <a:rPr lang="en-IN" sz="3300" dirty="0"/>
                        <a:t>Invalid (Lua doesn't have)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59214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788995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45E723-1D50-12C9-B853-0323BC6434B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 err="1"/>
              <a:t>string.gsub</a:t>
            </a:r>
            <a:r>
              <a:rPr lang="en-US" dirty="0"/>
              <a:t> (global substitution) is used to replace parts of a string using a pattern.</a:t>
            </a:r>
          </a:p>
          <a:p>
            <a:r>
              <a:rPr lang="en-US" dirty="0"/>
              <a:t>result, count = </a:t>
            </a:r>
            <a:r>
              <a:rPr lang="en-US" dirty="0" err="1"/>
              <a:t>string.gsub</a:t>
            </a:r>
            <a:r>
              <a:rPr lang="en-US" dirty="0"/>
              <a:t>(subject, pattern, replacement [, n])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064B11-F710-42B2-BA89-044343814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string.gsub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878641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7B662-03B8-DBF6-1C6B-FEF41239F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983B88-5510-69A5-A431-C9D8CC328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 err="1"/>
              <a:t>string.gsub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E4006BA-3C46-8A9F-B898-6F81253F4D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108194"/>
              </p:ext>
            </p:extLst>
          </p:nvPr>
        </p:nvGraphicFramePr>
        <p:xfrm>
          <a:off x="491389" y="1381125"/>
          <a:ext cx="8159636" cy="482441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454235">
                  <a:extLst>
                    <a:ext uri="{9D8B030D-6E8A-4147-A177-3AD203B41FA5}">
                      <a16:colId xmlns:a16="http://schemas.microsoft.com/office/drawing/2014/main" val="3218709619"/>
                    </a:ext>
                  </a:extLst>
                </a:gridCol>
                <a:gridCol w="5705401">
                  <a:extLst>
                    <a:ext uri="{9D8B030D-6E8A-4147-A177-3AD203B41FA5}">
                      <a16:colId xmlns:a16="http://schemas.microsoft.com/office/drawing/2014/main" val="814546320"/>
                    </a:ext>
                  </a:extLst>
                </a:gridCol>
              </a:tblGrid>
              <a:tr h="628031">
                <a:tc>
                  <a:txBody>
                    <a:bodyPr/>
                    <a:lstStyle/>
                    <a:p>
                      <a:r>
                        <a:rPr lang="en-IN" sz="2800"/>
                        <a:t>Parameter</a:t>
                      </a:r>
                    </a:p>
                  </a:txBody>
                  <a:tcPr marL="142734" marR="142734" marT="71367" marB="7136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Description</a:t>
                      </a:r>
                    </a:p>
                  </a:txBody>
                  <a:tcPr marL="142734" marR="142734" marT="71367" marB="71367" anchor="ctr"/>
                </a:tc>
                <a:extLst>
                  <a:ext uri="{0D108BD9-81ED-4DB2-BD59-A6C34878D82A}">
                    <a16:rowId xmlns:a16="http://schemas.microsoft.com/office/drawing/2014/main" val="667340324"/>
                  </a:ext>
                </a:extLst>
              </a:tr>
              <a:tr h="628031">
                <a:tc>
                  <a:txBody>
                    <a:bodyPr/>
                    <a:lstStyle/>
                    <a:p>
                      <a:r>
                        <a:rPr lang="en-IN" sz="2800"/>
                        <a:t>subject</a:t>
                      </a:r>
                    </a:p>
                  </a:txBody>
                  <a:tcPr marL="142734" marR="142734" marT="71367" marB="7136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The original string</a:t>
                      </a:r>
                    </a:p>
                  </a:txBody>
                  <a:tcPr marL="142734" marR="142734" marT="71367" marB="71367" anchor="ctr"/>
                </a:tc>
                <a:extLst>
                  <a:ext uri="{0D108BD9-81ED-4DB2-BD59-A6C34878D82A}">
                    <a16:rowId xmlns:a16="http://schemas.microsoft.com/office/drawing/2014/main" val="2100847042"/>
                  </a:ext>
                </a:extLst>
              </a:tr>
              <a:tr h="628031">
                <a:tc>
                  <a:txBody>
                    <a:bodyPr/>
                    <a:lstStyle/>
                    <a:p>
                      <a:r>
                        <a:rPr lang="en-IN" sz="2800"/>
                        <a:t>pattern</a:t>
                      </a:r>
                    </a:p>
                  </a:txBody>
                  <a:tcPr marL="142734" marR="142734" marT="71367" marB="71367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Lua pattern (what to search for)</a:t>
                      </a:r>
                    </a:p>
                  </a:txBody>
                  <a:tcPr marL="142734" marR="142734" marT="71367" marB="71367" anchor="ctr"/>
                </a:tc>
                <a:extLst>
                  <a:ext uri="{0D108BD9-81ED-4DB2-BD59-A6C34878D82A}">
                    <a16:rowId xmlns:a16="http://schemas.microsoft.com/office/drawing/2014/main" val="2338216111"/>
                  </a:ext>
                </a:extLst>
              </a:tr>
              <a:tr h="1056233">
                <a:tc>
                  <a:txBody>
                    <a:bodyPr/>
                    <a:lstStyle/>
                    <a:p>
                      <a:r>
                        <a:rPr lang="en-IN" sz="2800"/>
                        <a:t>replacement</a:t>
                      </a:r>
                    </a:p>
                  </a:txBody>
                  <a:tcPr marL="142734" marR="142734" marT="71367" marB="71367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Replacement value (string, table, or function)</a:t>
                      </a:r>
                    </a:p>
                  </a:txBody>
                  <a:tcPr marL="142734" marR="142734" marT="71367" marB="71367" anchor="ctr"/>
                </a:tc>
                <a:extLst>
                  <a:ext uri="{0D108BD9-81ED-4DB2-BD59-A6C34878D82A}">
                    <a16:rowId xmlns:a16="http://schemas.microsoft.com/office/drawing/2014/main" val="1119087771"/>
                  </a:ext>
                </a:extLst>
              </a:tr>
              <a:tr h="628031">
                <a:tc>
                  <a:txBody>
                    <a:bodyPr/>
                    <a:lstStyle/>
                    <a:p>
                      <a:r>
                        <a:rPr lang="en-IN" sz="2800"/>
                        <a:t>n (optional)</a:t>
                      </a:r>
                    </a:p>
                  </a:txBody>
                  <a:tcPr marL="142734" marR="142734" marT="71367" marB="7136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Max number of substitutions</a:t>
                      </a:r>
                    </a:p>
                  </a:txBody>
                  <a:tcPr marL="142734" marR="142734" marT="71367" marB="71367" anchor="ctr"/>
                </a:tc>
                <a:extLst>
                  <a:ext uri="{0D108BD9-81ED-4DB2-BD59-A6C34878D82A}">
                    <a16:rowId xmlns:a16="http://schemas.microsoft.com/office/drawing/2014/main" val="1093366432"/>
                  </a:ext>
                </a:extLst>
              </a:tr>
              <a:tr h="628031">
                <a:tc>
                  <a:txBody>
                    <a:bodyPr/>
                    <a:lstStyle/>
                    <a:p>
                      <a:r>
                        <a:rPr lang="en-IN" sz="2800"/>
                        <a:t>result</a:t>
                      </a:r>
                    </a:p>
                  </a:txBody>
                  <a:tcPr marL="142734" marR="142734" marT="71367" marB="7136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Final string with replacements</a:t>
                      </a:r>
                    </a:p>
                  </a:txBody>
                  <a:tcPr marL="142734" marR="142734" marT="71367" marB="71367" anchor="ctr"/>
                </a:tc>
                <a:extLst>
                  <a:ext uri="{0D108BD9-81ED-4DB2-BD59-A6C34878D82A}">
                    <a16:rowId xmlns:a16="http://schemas.microsoft.com/office/drawing/2014/main" val="1815547081"/>
                  </a:ext>
                </a:extLst>
              </a:tr>
              <a:tr h="628031">
                <a:tc>
                  <a:txBody>
                    <a:bodyPr/>
                    <a:lstStyle/>
                    <a:p>
                      <a:r>
                        <a:rPr lang="en-IN" sz="2800"/>
                        <a:t>count</a:t>
                      </a:r>
                    </a:p>
                  </a:txBody>
                  <a:tcPr marL="142734" marR="142734" marT="71367" marB="71367" anchor="ctr"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Number of substitutions made</a:t>
                      </a:r>
                    </a:p>
                  </a:txBody>
                  <a:tcPr marL="142734" marR="142734" marT="71367" marB="71367" anchor="ctr"/>
                </a:tc>
                <a:extLst>
                  <a:ext uri="{0D108BD9-81ED-4DB2-BD59-A6C34878D82A}">
                    <a16:rowId xmlns:a16="http://schemas.microsoft.com/office/drawing/2014/main" val="3032838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348115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6C17B7-9D36-5B5D-AA25-A8A96918198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local s = "Lua is great"</a:t>
            </a:r>
          </a:p>
          <a:p>
            <a:r>
              <a:rPr lang="en-US" dirty="0"/>
              <a:t>local new = </a:t>
            </a:r>
            <a:r>
              <a:rPr lang="en-US" dirty="0" err="1"/>
              <a:t>string.gsub</a:t>
            </a:r>
            <a:r>
              <a:rPr lang="en-US" dirty="0"/>
              <a:t>(s, "great", "awesome")</a:t>
            </a:r>
          </a:p>
          <a:p>
            <a:r>
              <a:rPr lang="en-US" dirty="0"/>
              <a:t>print(new)  --&gt; Lua is awesome</a:t>
            </a:r>
          </a:p>
          <a:p>
            <a:endParaRPr lang="en-US" dirty="0"/>
          </a:p>
          <a:p>
            <a:r>
              <a:rPr lang="en-US" dirty="0"/>
              <a:t>local s = "</a:t>
            </a:r>
            <a:r>
              <a:rPr lang="en-US" dirty="0" err="1"/>
              <a:t>a+b</a:t>
            </a:r>
            <a:r>
              <a:rPr lang="en-US" dirty="0"/>
              <a:t>=c"</a:t>
            </a:r>
          </a:p>
          <a:p>
            <a:r>
              <a:rPr lang="en-US" dirty="0"/>
              <a:t>print(</a:t>
            </a:r>
            <a:r>
              <a:rPr lang="en-US" dirty="0" err="1"/>
              <a:t>string.gsub</a:t>
            </a:r>
            <a:r>
              <a:rPr lang="en-US" dirty="0"/>
              <a:t>(s, "+", "-", 1))     --&gt; a-b=c   (1st only)</a:t>
            </a:r>
          </a:p>
          <a:p>
            <a:r>
              <a:rPr lang="en-US" dirty="0"/>
              <a:t>print(</a:t>
            </a:r>
            <a:r>
              <a:rPr lang="en-US" dirty="0" err="1"/>
              <a:t>string.gsub</a:t>
            </a:r>
            <a:r>
              <a:rPr lang="en-US" dirty="0"/>
              <a:t>(s, "+", "-"))        --&gt; a-b=c   (all)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8CF8A84-0DC4-CA53-48F8-C4C05A67C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String.gsub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123290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B101A-0476-4C14-B006-3BAB9F211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55DF7B-E975-B8AF-698A-3AF5191DE0C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local s = "ID:123, Code:456"</a:t>
            </a:r>
          </a:p>
          <a:p>
            <a:r>
              <a:rPr lang="en-US" dirty="0"/>
              <a:t>local result = </a:t>
            </a:r>
            <a:r>
              <a:rPr lang="en-US" dirty="0" err="1"/>
              <a:t>string.gsub</a:t>
            </a:r>
            <a:r>
              <a:rPr lang="en-US" dirty="0"/>
              <a:t>(s, "%d+", "###")</a:t>
            </a:r>
          </a:p>
          <a:p>
            <a:r>
              <a:rPr lang="en-US" dirty="0"/>
              <a:t>print(result)  --&gt; ID:###, Code:###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556DE4-0047-1150-B7E5-AE8128036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String.gsub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011232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9EA5D-6011-3E90-64D9-A2F9D8A77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DAEE18-8438-DD10-9D41-3F6BBAECC5D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local s = "first LAST"</a:t>
            </a:r>
          </a:p>
          <a:p>
            <a:r>
              <a:rPr lang="en-US" dirty="0"/>
              <a:t>local result = </a:t>
            </a:r>
            <a:r>
              <a:rPr lang="en-US" dirty="0" err="1"/>
              <a:t>string.gsub</a:t>
            </a:r>
            <a:r>
              <a:rPr lang="en-US" dirty="0"/>
              <a:t>(s, "(%a+)%s+(%a+)", "%2, %1")</a:t>
            </a:r>
          </a:p>
          <a:p>
            <a:r>
              <a:rPr lang="en-US" dirty="0"/>
              <a:t>print(result)  --&gt; LAST, first</a:t>
            </a:r>
          </a:p>
          <a:p>
            <a:endParaRPr lang="en-IN" dirty="0"/>
          </a:p>
          <a:p>
            <a:r>
              <a:rPr lang="en-US" dirty="0"/>
              <a:t>(%a+) captures a word</a:t>
            </a:r>
          </a:p>
          <a:p>
            <a:r>
              <a:rPr lang="en-US" b="1" dirty="0">
                <a:solidFill>
                  <a:srgbClr val="FF0000"/>
                </a:solidFill>
              </a:rPr>
              <a:t>%2, %1 swaps the captured parts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1AB6CB-EB67-E091-3CE1-6AB1939A0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String.gsub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863114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5C9CC-029F-66AB-386E-2B21A40E1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86783D-652C-8CDC-13B5-33BE8643944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local s = "1,2,3"</a:t>
            </a:r>
          </a:p>
          <a:p>
            <a:r>
              <a:rPr lang="en-US" dirty="0"/>
              <a:t>local result = </a:t>
            </a:r>
            <a:r>
              <a:rPr lang="en-US" dirty="0" err="1"/>
              <a:t>string.gsub</a:t>
            </a:r>
            <a:r>
              <a:rPr lang="en-US" dirty="0"/>
              <a:t>(s, "%d+", function(n)</a:t>
            </a:r>
          </a:p>
          <a:p>
            <a:r>
              <a:rPr lang="en-US" dirty="0"/>
              <a:t>    return </a:t>
            </a:r>
            <a:r>
              <a:rPr lang="en-US" dirty="0" err="1"/>
              <a:t>tonumber</a:t>
            </a:r>
            <a:r>
              <a:rPr lang="en-US" dirty="0"/>
              <a:t>(n) * 2</a:t>
            </a:r>
          </a:p>
          <a:p>
            <a:r>
              <a:rPr lang="en-US" dirty="0"/>
              <a:t>end)</a:t>
            </a:r>
          </a:p>
          <a:p>
            <a:r>
              <a:rPr lang="en-US" dirty="0"/>
              <a:t>print(result)  --&gt; 2,4,6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84CF8E-4FD1-34CB-B173-75144D6CB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String.gsub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96EB4A5-3C90-5504-B043-E4E3D1173EFC}"/>
                  </a:ext>
                </a:extLst>
              </p14:cNvPr>
              <p14:cNvContentPartPr/>
              <p14:nvPr/>
            </p14:nvContentPartPr>
            <p14:xfrm>
              <a:off x="5794484" y="2473522"/>
              <a:ext cx="1499760" cy="20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96EB4A5-3C90-5504-B043-E4E3D1173EF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88364" y="2467402"/>
                <a:ext cx="151200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0F19096-F74B-5E33-297A-D2931DFB0BE6}"/>
                  </a:ext>
                </a:extLst>
              </p14:cNvPr>
              <p14:cNvContentPartPr/>
              <p14:nvPr/>
            </p14:nvContentPartPr>
            <p14:xfrm>
              <a:off x="1308884" y="2867722"/>
              <a:ext cx="2955960" cy="59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0F19096-F74B-5E33-297A-D2931DFB0B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02764" y="2861602"/>
                <a:ext cx="296820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F0C011A-DD13-1889-8C26-47DDC0467D31}"/>
                  </a:ext>
                </a:extLst>
              </p14:cNvPr>
              <p14:cNvContentPartPr/>
              <p14:nvPr/>
            </p14:nvContentPartPr>
            <p14:xfrm>
              <a:off x="5572724" y="3859522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F0C011A-DD13-1889-8C26-47DDC0467D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66604" y="3853402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741822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8E1A38-B371-53C6-E08B-6B0D5D29952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URL encoding (a.k.a. percent-encoding) is used to encode characters in a string so they can be safely included in a URL. For example:</a:t>
            </a:r>
          </a:p>
          <a:p>
            <a:r>
              <a:rPr lang="en-US" dirty="0">
                <a:highlight>
                  <a:srgbClr val="FFFF00"/>
                </a:highlight>
              </a:rPr>
              <a:t>"Hello World!" → "Hello%20World%21"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CF7551-7DAD-C741-D698-9EE42753F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URL Encoding in Lua</a:t>
            </a:r>
          </a:p>
        </p:txBody>
      </p:sp>
    </p:spTree>
    <p:extLst>
      <p:ext uri="{BB962C8B-B14F-4D97-AF65-F5344CB8AC3E}">
        <p14:creationId xmlns:p14="http://schemas.microsoft.com/office/powerpoint/2010/main" val="62634282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50E96-8150-82CA-5750-533461687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518BA5-584B-B792-2B08-CA81465995F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function </a:t>
            </a:r>
            <a:r>
              <a:rPr lang="en-US" dirty="0" err="1"/>
              <a:t>url_encode</a:t>
            </a:r>
            <a:r>
              <a:rPr lang="en-US" dirty="0"/>
              <a:t>(str)</a:t>
            </a:r>
          </a:p>
          <a:p>
            <a:r>
              <a:rPr lang="en-US" dirty="0"/>
              <a:t>    str = </a:t>
            </a:r>
            <a:r>
              <a:rPr lang="en-US" dirty="0" err="1"/>
              <a:t>str:gsub</a:t>
            </a:r>
            <a:r>
              <a:rPr lang="en-US" dirty="0"/>
              <a:t>("\n", "\r\n")</a:t>
            </a:r>
          </a:p>
          <a:p>
            <a:r>
              <a:rPr lang="en-US" dirty="0"/>
              <a:t>    str = </a:t>
            </a:r>
            <a:r>
              <a:rPr lang="en-US" dirty="0" err="1"/>
              <a:t>str:gsub</a:t>
            </a:r>
            <a:r>
              <a:rPr lang="en-US" dirty="0"/>
              <a:t>("([^%w%-_%.~])", function(c)</a:t>
            </a:r>
          </a:p>
          <a:p>
            <a:r>
              <a:rPr lang="en-US" dirty="0"/>
              <a:t>        return </a:t>
            </a:r>
            <a:r>
              <a:rPr lang="en-US" dirty="0" err="1"/>
              <a:t>string.format</a:t>
            </a:r>
            <a:r>
              <a:rPr lang="en-US" dirty="0"/>
              <a:t>("%%%02X", </a:t>
            </a:r>
            <a:r>
              <a:rPr lang="en-US" dirty="0" err="1"/>
              <a:t>string.byte</a:t>
            </a:r>
            <a:r>
              <a:rPr lang="en-US" dirty="0"/>
              <a:t>(c))</a:t>
            </a:r>
          </a:p>
          <a:p>
            <a:r>
              <a:rPr lang="en-US" dirty="0"/>
              <a:t>    end)</a:t>
            </a:r>
          </a:p>
          <a:p>
            <a:r>
              <a:rPr lang="en-US" dirty="0"/>
              <a:t>    return str</a:t>
            </a:r>
          </a:p>
          <a:p>
            <a:r>
              <a:rPr lang="en-US" dirty="0"/>
              <a:t>end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71E74C-6D34-76B6-4B03-39AABADE0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URL Encoding in Lua</a:t>
            </a:r>
          </a:p>
        </p:txBody>
      </p:sp>
    </p:spTree>
    <p:extLst>
      <p:ext uri="{BB962C8B-B14F-4D97-AF65-F5344CB8AC3E}">
        <p14:creationId xmlns:p14="http://schemas.microsoft.com/office/powerpoint/2010/main" val="10661915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F380E-1F72-796F-73B4-6F33A2EE3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C8C81E-2F28-2118-8DF6-771665B9BAB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[^%w%-_%.~]: matches all characters not safe for URLs</a:t>
            </a:r>
          </a:p>
          <a:p>
            <a:r>
              <a:rPr lang="en-US" dirty="0" err="1"/>
              <a:t>string.byte</a:t>
            </a:r>
            <a:r>
              <a:rPr lang="en-US" dirty="0"/>
              <a:t>(c): gets ASCII code</a:t>
            </a:r>
          </a:p>
          <a:p>
            <a:r>
              <a:rPr lang="en-US" dirty="0" err="1"/>
              <a:t>string.format</a:t>
            </a:r>
            <a:r>
              <a:rPr lang="en-US" dirty="0"/>
              <a:t>("%%%02X", ...): turns it into %XX form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10F65D-6A68-51F6-F8BD-07A4716F9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URL Encoding in Lua</a:t>
            </a:r>
          </a:p>
        </p:txBody>
      </p:sp>
    </p:spTree>
    <p:extLst>
      <p:ext uri="{BB962C8B-B14F-4D97-AF65-F5344CB8AC3E}">
        <p14:creationId xmlns:p14="http://schemas.microsoft.com/office/powerpoint/2010/main" val="285828050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A0BB07-7585-7D42-AC35-BEFFB05D579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function </a:t>
            </a:r>
            <a:r>
              <a:rPr lang="en-IN" dirty="0" err="1"/>
              <a:t>url_decode</a:t>
            </a:r>
            <a:r>
              <a:rPr lang="en-IN" dirty="0"/>
              <a:t>(str)</a:t>
            </a:r>
          </a:p>
          <a:p>
            <a:r>
              <a:rPr lang="en-IN" dirty="0"/>
              <a:t>    str = </a:t>
            </a:r>
            <a:r>
              <a:rPr lang="en-IN" dirty="0" err="1"/>
              <a:t>str:gsub</a:t>
            </a:r>
            <a:r>
              <a:rPr lang="en-IN" dirty="0"/>
              <a:t>("%%(%</a:t>
            </a:r>
            <a:r>
              <a:rPr lang="en-IN" dirty="0" err="1"/>
              <a:t>x%x</a:t>
            </a:r>
            <a:r>
              <a:rPr lang="en-IN" dirty="0"/>
              <a:t>)", function(hex)</a:t>
            </a:r>
          </a:p>
          <a:p>
            <a:r>
              <a:rPr lang="en-IN" dirty="0"/>
              <a:t>        return </a:t>
            </a:r>
            <a:r>
              <a:rPr lang="en-IN" dirty="0" err="1"/>
              <a:t>string.char</a:t>
            </a:r>
            <a:r>
              <a:rPr lang="en-IN" dirty="0"/>
              <a:t>(</a:t>
            </a:r>
            <a:r>
              <a:rPr lang="en-IN" dirty="0" err="1"/>
              <a:t>tonumber</a:t>
            </a:r>
            <a:r>
              <a:rPr lang="en-IN" dirty="0"/>
              <a:t>(hex, 16))</a:t>
            </a:r>
          </a:p>
          <a:p>
            <a:r>
              <a:rPr lang="en-IN" dirty="0"/>
              <a:t>    end)</a:t>
            </a:r>
          </a:p>
          <a:p>
            <a:r>
              <a:rPr lang="en-IN" dirty="0"/>
              <a:t>    return str</a:t>
            </a:r>
          </a:p>
          <a:p>
            <a:r>
              <a:rPr lang="en-IN" dirty="0"/>
              <a:t>end</a:t>
            </a:r>
          </a:p>
          <a:p>
            <a:endParaRPr lang="en-IN" dirty="0"/>
          </a:p>
          <a:p>
            <a:r>
              <a:rPr lang="en-IN" dirty="0"/>
              <a:t>print(</a:t>
            </a:r>
            <a:r>
              <a:rPr lang="en-IN" dirty="0" err="1"/>
              <a:t>url_decode</a:t>
            </a:r>
            <a:r>
              <a:rPr lang="en-IN" dirty="0"/>
              <a:t>("Hello%20World%21"))  --&gt; Hello World!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9A3F45-1AF0-DA17-05AA-FA0E95081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URL Decoding </a:t>
            </a:r>
          </a:p>
        </p:txBody>
      </p:sp>
    </p:spTree>
    <p:extLst>
      <p:ext uri="{BB962C8B-B14F-4D97-AF65-F5344CB8AC3E}">
        <p14:creationId xmlns:p14="http://schemas.microsoft.com/office/powerpoint/2010/main" val="347887233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819B44-9735-D96A-935C-C364D3DD309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Tab expansion means replacing tabs (\t) with spaces, typically 4 or 8 spaces per tab.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7094F5-1C59-33B6-DBF8-97E26E98A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Tab Expansion</a:t>
            </a:r>
          </a:p>
        </p:txBody>
      </p:sp>
    </p:spTree>
    <p:extLst>
      <p:ext uri="{BB962C8B-B14F-4D97-AF65-F5344CB8AC3E}">
        <p14:creationId xmlns:p14="http://schemas.microsoft.com/office/powerpoint/2010/main" val="67449631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8185CA-65FE-84AD-8F3F-7751AC45B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Common Code Formats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92056B-AF22-D325-6318-EB9B34CA1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66895"/>
              </p:ext>
            </p:extLst>
          </p:nvPr>
        </p:nvGraphicFramePr>
        <p:xfrm>
          <a:off x="490953" y="1381125"/>
          <a:ext cx="8160509" cy="48244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6202">
                  <a:extLst>
                    <a:ext uri="{9D8B030D-6E8A-4147-A177-3AD203B41FA5}">
                      <a16:colId xmlns:a16="http://schemas.microsoft.com/office/drawing/2014/main" val="3364293420"/>
                    </a:ext>
                  </a:extLst>
                </a:gridCol>
                <a:gridCol w="3654155">
                  <a:extLst>
                    <a:ext uri="{9D8B030D-6E8A-4147-A177-3AD203B41FA5}">
                      <a16:colId xmlns:a16="http://schemas.microsoft.com/office/drawing/2014/main" val="2371749845"/>
                    </a:ext>
                  </a:extLst>
                </a:gridCol>
                <a:gridCol w="2650152">
                  <a:extLst>
                    <a:ext uri="{9D8B030D-6E8A-4147-A177-3AD203B41FA5}">
                      <a16:colId xmlns:a16="http://schemas.microsoft.com/office/drawing/2014/main" val="2972293150"/>
                    </a:ext>
                  </a:extLst>
                </a:gridCol>
              </a:tblGrid>
              <a:tr h="536046">
                <a:tc>
                  <a:txBody>
                    <a:bodyPr/>
                    <a:lstStyle/>
                    <a:p>
                      <a:r>
                        <a:rPr lang="en-IN" sz="2400"/>
                        <a:t>Code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Meaning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Example</a:t>
                      </a:r>
                    </a:p>
                  </a:txBody>
                  <a:tcPr marL="121829" marR="121829" marT="60914" marB="60914" anchor="ctr"/>
                </a:tc>
                <a:extLst>
                  <a:ext uri="{0D108BD9-81ED-4DB2-BD59-A6C34878D82A}">
                    <a16:rowId xmlns:a16="http://schemas.microsoft.com/office/drawing/2014/main" val="2928411259"/>
                  </a:ext>
                </a:extLst>
              </a:tr>
              <a:tr h="536046">
                <a:tc>
                  <a:txBody>
                    <a:bodyPr/>
                    <a:lstStyle/>
                    <a:p>
                      <a:r>
                        <a:rPr lang="en-IN" sz="2400"/>
                        <a:t>%Y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Year (4 digits)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2025</a:t>
                      </a:r>
                    </a:p>
                  </a:txBody>
                  <a:tcPr marL="121829" marR="121829" marT="60914" marB="60914" anchor="ctr"/>
                </a:tc>
                <a:extLst>
                  <a:ext uri="{0D108BD9-81ED-4DB2-BD59-A6C34878D82A}">
                    <a16:rowId xmlns:a16="http://schemas.microsoft.com/office/drawing/2014/main" val="3997203917"/>
                  </a:ext>
                </a:extLst>
              </a:tr>
              <a:tr h="536046">
                <a:tc>
                  <a:txBody>
                    <a:bodyPr/>
                    <a:lstStyle/>
                    <a:p>
                      <a:r>
                        <a:rPr lang="en-IN" sz="2400"/>
                        <a:t>%m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Month (01–12)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06</a:t>
                      </a:r>
                    </a:p>
                  </a:txBody>
                  <a:tcPr marL="121829" marR="121829" marT="60914" marB="60914" anchor="ctr"/>
                </a:tc>
                <a:extLst>
                  <a:ext uri="{0D108BD9-81ED-4DB2-BD59-A6C34878D82A}">
                    <a16:rowId xmlns:a16="http://schemas.microsoft.com/office/drawing/2014/main" val="2721678891"/>
                  </a:ext>
                </a:extLst>
              </a:tr>
              <a:tr h="536046">
                <a:tc>
                  <a:txBody>
                    <a:bodyPr/>
                    <a:lstStyle/>
                    <a:p>
                      <a:r>
                        <a:rPr lang="en-IN" sz="2400"/>
                        <a:t>%d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Day of month (01–31)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29</a:t>
                      </a:r>
                    </a:p>
                  </a:txBody>
                  <a:tcPr marL="121829" marR="121829" marT="60914" marB="60914" anchor="ctr"/>
                </a:tc>
                <a:extLst>
                  <a:ext uri="{0D108BD9-81ED-4DB2-BD59-A6C34878D82A}">
                    <a16:rowId xmlns:a16="http://schemas.microsoft.com/office/drawing/2014/main" val="2589408375"/>
                  </a:ext>
                </a:extLst>
              </a:tr>
              <a:tr h="536046">
                <a:tc>
                  <a:txBody>
                    <a:bodyPr/>
                    <a:lstStyle/>
                    <a:p>
                      <a:r>
                        <a:rPr lang="en-IN" sz="2400"/>
                        <a:t>%H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Hour (00–23)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10</a:t>
                      </a:r>
                    </a:p>
                  </a:txBody>
                  <a:tcPr marL="121829" marR="121829" marT="60914" marB="60914" anchor="ctr"/>
                </a:tc>
                <a:extLst>
                  <a:ext uri="{0D108BD9-81ED-4DB2-BD59-A6C34878D82A}">
                    <a16:rowId xmlns:a16="http://schemas.microsoft.com/office/drawing/2014/main" val="2902394637"/>
                  </a:ext>
                </a:extLst>
              </a:tr>
              <a:tr h="536046">
                <a:tc>
                  <a:txBody>
                    <a:bodyPr/>
                    <a:lstStyle/>
                    <a:p>
                      <a:r>
                        <a:rPr lang="en-IN" sz="2400"/>
                        <a:t>%M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Minute (00–59)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15</a:t>
                      </a:r>
                    </a:p>
                  </a:txBody>
                  <a:tcPr marL="121829" marR="121829" marT="60914" marB="60914" anchor="ctr"/>
                </a:tc>
                <a:extLst>
                  <a:ext uri="{0D108BD9-81ED-4DB2-BD59-A6C34878D82A}">
                    <a16:rowId xmlns:a16="http://schemas.microsoft.com/office/drawing/2014/main" val="103810126"/>
                  </a:ext>
                </a:extLst>
              </a:tr>
              <a:tr h="536046">
                <a:tc>
                  <a:txBody>
                    <a:bodyPr/>
                    <a:lstStyle/>
                    <a:p>
                      <a:r>
                        <a:rPr lang="en-IN" sz="2400"/>
                        <a:t>%S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Second (00–59)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32</a:t>
                      </a:r>
                    </a:p>
                  </a:txBody>
                  <a:tcPr marL="121829" marR="121829" marT="60914" marB="60914" anchor="ctr"/>
                </a:tc>
                <a:extLst>
                  <a:ext uri="{0D108BD9-81ED-4DB2-BD59-A6C34878D82A}">
                    <a16:rowId xmlns:a16="http://schemas.microsoft.com/office/drawing/2014/main" val="3136443690"/>
                  </a:ext>
                </a:extLst>
              </a:tr>
              <a:tr h="536046">
                <a:tc>
                  <a:txBody>
                    <a:bodyPr/>
                    <a:lstStyle/>
                    <a:p>
                      <a:r>
                        <a:rPr lang="en-IN" sz="2400"/>
                        <a:t>%A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Weekday name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Saturday</a:t>
                      </a:r>
                    </a:p>
                  </a:txBody>
                  <a:tcPr marL="121829" marR="121829" marT="60914" marB="60914" anchor="ctr"/>
                </a:tc>
                <a:extLst>
                  <a:ext uri="{0D108BD9-81ED-4DB2-BD59-A6C34878D82A}">
                    <a16:rowId xmlns:a16="http://schemas.microsoft.com/office/drawing/2014/main" val="1780796927"/>
                  </a:ext>
                </a:extLst>
              </a:tr>
              <a:tr h="536046">
                <a:tc>
                  <a:txBody>
                    <a:bodyPr/>
                    <a:lstStyle/>
                    <a:p>
                      <a:r>
                        <a:rPr lang="en-IN" sz="2400"/>
                        <a:t>%B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Month name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June</a:t>
                      </a:r>
                    </a:p>
                  </a:txBody>
                  <a:tcPr marL="121829" marR="121829" marT="60914" marB="60914" anchor="ctr"/>
                </a:tc>
                <a:extLst>
                  <a:ext uri="{0D108BD9-81ED-4DB2-BD59-A6C34878D82A}">
                    <a16:rowId xmlns:a16="http://schemas.microsoft.com/office/drawing/2014/main" val="2691737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556649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3EEB78-9CCC-393D-7ACB-8A1AF432CEB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>
                <a:highlight>
                  <a:srgbClr val="00FFFF"/>
                </a:highlight>
              </a:rPr>
              <a:t>print(</a:t>
            </a:r>
            <a:r>
              <a:rPr lang="en-IN" dirty="0" err="1">
                <a:highlight>
                  <a:srgbClr val="00FFFF"/>
                </a:highlight>
              </a:rPr>
              <a:t>os.date</a:t>
            </a:r>
            <a:r>
              <a:rPr lang="en-IN" dirty="0">
                <a:highlight>
                  <a:srgbClr val="00FFFF"/>
                </a:highlight>
              </a:rPr>
              <a:t>("%Y-%m-%d %H:%M:%S"))</a:t>
            </a:r>
          </a:p>
          <a:p>
            <a:r>
              <a:rPr lang="en-IN" dirty="0">
                <a:highlight>
                  <a:srgbClr val="00FFFF"/>
                </a:highlight>
              </a:rPr>
              <a:t>-- Output: "2025-06-29 10:15:32“</a:t>
            </a:r>
          </a:p>
          <a:p>
            <a:r>
              <a:rPr lang="en-US" dirty="0">
                <a:highlight>
                  <a:srgbClr val="FFFF00"/>
                </a:highlight>
              </a:rPr>
              <a:t>local t = {</a:t>
            </a:r>
          </a:p>
          <a:p>
            <a:r>
              <a:rPr lang="en-US" dirty="0">
                <a:highlight>
                  <a:srgbClr val="FFFF00"/>
                </a:highlight>
              </a:rPr>
              <a:t>    year = 2025,</a:t>
            </a:r>
          </a:p>
          <a:p>
            <a:r>
              <a:rPr lang="en-US" dirty="0">
                <a:highlight>
                  <a:srgbClr val="FFFF00"/>
                </a:highlight>
              </a:rPr>
              <a:t>    month = 12,</a:t>
            </a:r>
          </a:p>
          <a:p>
            <a:r>
              <a:rPr lang="en-US" dirty="0">
                <a:highlight>
                  <a:srgbClr val="FFFF00"/>
                </a:highlight>
              </a:rPr>
              <a:t>    day = 31,</a:t>
            </a:r>
          </a:p>
          <a:p>
            <a:r>
              <a:rPr lang="en-US" dirty="0">
                <a:highlight>
                  <a:srgbClr val="FFFF00"/>
                </a:highlight>
              </a:rPr>
              <a:t>    hour = 23,</a:t>
            </a:r>
          </a:p>
          <a:p>
            <a:r>
              <a:rPr lang="en-US" dirty="0">
                <a:highlight>
                  <a:srgbClr val="FFFF00"/>
                </a:highlight>
              </a:rPr>
              <a:t>    min = 59,</a:t>
            </a:r>
          </a:p>
          <a:p>
            <a:r>
              <a:rPr lang="en-US" dirty="0">
                <a:highlight>
                  <a:srgbClr val="FFFF00"/>
                </a:highlight>
              </a:rPr>
              <a:t>    sec = 59</a:t>
            </a:r>
          </a:p>
          <a:p>
            <a:r>
              <a:rPr lang="en-US" dirty="0">
                <a:highlight>
                  <a:srgbClr val="FFFF00"/>
                </a:highlight>
              </a:rPr>
              <a:t>}</a:t>
            </a:r>
          </a:p>
          <a:p>
            <a:r>
              <a:rPr lang="en-US" dirty="0">
                <a:highlight>
                  <a:srgbClr val="FFFF00"/>
                </a:highlight>
              </a:rPr>
              <a:t>local </a:t>
            </a:r>
            <a:r>
              <a:rPr lang="en-US" dirty="0" err="1">
                <a:highlight>
                  <a:srgbClr val="FFFF00"/>
                </a:highlight>
              </a:rPr>
              <a:t>ts</a:t>
            </a:r>
            <a:r>
              <a:rPr lang="en-US" dirty="0">
                <a:highlight>
                  <a:srgbClr val="FFFF00"/>
                </a:highlight>
              </a:rPr>
              <a:t> = </a:t>
            </a:r>
            <a:r>
              <a:rPr lang="en-US" dirty="0" err="1">
                <a:highlight>
                  <a:srgbClr val="FFFF00"/>
                </a:highlight>
              </a:rPr>
              <a:t>os.time</a:t>
            </a:r>
            <a:r>
              <a:rPr lang="en-US" dirty="0">
                <a:highlight>
                  <a:srgbClr val="FFFF00"/>
                </a:highlight>
              </a:rPr>
              <a:t>(t)</a:t>
            </a:r>
          </a:p>
          <a:p>
            <a:r>
              <a:rPr lang="en-US" dirty="0">
                <a:highlight>
                  <a:srgbClr val="FFFF00"/>
                </a:highlight>
              </a:rPr>
              <a:t>print(</a:t>
            </a:r>
            <a:r>
              <a:rPr lang="en-US" dirty="0" err="1">
                <a:highlight>
                  <a:srgbClr val="FFFF00"/>
                </a:highlight>
              </a:rPr>
              <a:t>ts</a:t>
            </a:r>
            <a:r>
              <a:rPr lang="en-US" dirty="0">
                <a:highlight>
                  <a:srgbClr val="FFFF00"/>
                </a:highlight>
              </a:rPr>
              <a:t>)  --&gt; Unix timestamp for 2025-12-31 23:59:59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4DDF47-9793-E7C2-CB5D-748231185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Date Time Manipulation</a:t>
            </a:r>
          </a:p>
        </p:txBody>
      </p:sp>
    </p:spTree>
    <p:extLst>
      <p:ext uri="{BB962C8B-B14F-4D97-AF65-F5344CB8AC3E}">
        <p14:creationId xmlns:p14="http://schemas.microsoft.com/office/powerpoint/2010/main" val="119123233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49152-0264-E8DB-1AF7-4466EB3D7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FD0D1E-45BA-8291-9284-9E563FDE937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00FFFF"/>
                </a:highlight>
              </a:rPr>
              <a:t>local </a:t>
            </a:r>
            <a:r>
              <a:rPr lang="en-US" dirty="0" err="1">
                <a:highlight>
                  <a:srgbClr val="00FFFF"/>
                </a:highlight>
              </a:rPr>
              <a:t>ts</a:t>
            </a:r>
            <a:r>
              <a:rPr lang="en-US" dirty="0">
                <a:highlight>
                  <a:srgbClr val="00FFFF"/>
                </a:highlight>
              </a:rPr>
              <a:t> = 1751182532</a:t>
            </a:r>
          </a:p>
          <a:p>
            <a:r>
              <a:rPr lang="en-US" dirty="0">
                <a:highlight>
                  <a:srgbClr val="00FFFF"/>
                </a:highlight>
              </a:rPr>
              <a:t>print(</a:t>
            </a:r>
            <a:r>
              <a:rPr lang="en-US" dirty="0" err="1">
                <a:highlight>
                  <a:srgbClr val="00FFFF"/>
                </a:highlight>
              </a:rPr>
              <a:t>os.date</a:t>
            </a:r>
            <a:r>
              <a:rPr lang="en-US" dirty="0">
                <a:highlight>
                  <a:srgbClr val="00FFFF"/>
                </a:highlight>
              </a:rPr>
              <a:t>("%Y-%m-%d %H:%M:%S", </a:t>
            </a:r>
            <a:r>
              <a:rPr lang="en-US" dirty="0" err="1">
                <a:highlight>
                  <a:srgbClr val="00FFFF"/>
                </a:highlight>
              </a:rPr>
              <a:t>ts</a:t>
            </a:r>
            <a:r>
              <a:rPr lang="en-US" dirty="0">
                <a:highlight>
                  <a:srgbClr val="00FFFF"/>
                </a:highlight>
              </a:rPr>
              <a:t>))</a:t>
            </a:r>
          </a:p>
          <a:p>
            <a:endParaRPr lang="en-US" dirty="0">
              <a:highlight>
                <a:srgbClr val="00FFFF"/>
              </a:highlight>
            </a:endParaRPr>
          </a:p>
          <a:p>
            <a:endParaRPr lang="en-US" dirty="0">
              <a:highlight>
                <a:srgbClr val="00FFFF"/>
              </a:highlight>
            </a:endParaRPr>
          </a:p>
          <a:p>
            <a:r>
              <a:rPr lang="en-US" dirty="0"/>
              <a:t>local t1 = </a:t>
            </a:r>
            <a:r>
              <a:rPr lang="en-US" dirty="0" err="1"/>
              <a:t>os.time</a:t>
            </a:r>
            <a:r>
              <a:rPr lang="en-US" dirty="0"/>
              <a:t>({year=2025, month=6, day=29})</a:t>
            </a:r>
          </a:p>
          <a:p>
            <a:r>
              <a:rPr lang="en-US" dirty="0"/>
              <a:t>local t2 = </a:t>
            </a:r>
            <a:r>
              <a:rPr lang="en-US" dirty="0" err="1"/>
              <a:t>os.time</a:t>
            </a:r>
            <a:r>
              <a:rPr lang="en-US" dirty="0"/>
              <a:t>({year=2025, month=7, day=1})</a:t>
            </a:r>
          </a:p>
          <a:p>
            <a:r>
              <a:rPr lang="en-US" dirty="0"/>
              <a:t>print(</a:t>
            </a:r>
            <a:r>
              <a:rPr lang="en-US" dirty="0" err="1"/>
              <a:t>os.difftime</a:t>
            </a:r>
            <a:r>
              <a:rPr lang="en-US" dirty="0"/>
              <a:t>(t2, t1))  --&gt; 172800  (2 days in seconds)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441904-FE5B-A52F-04E6-701C948B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Date Time Manipulation</a:t>
            </a:r>
          </a:p>
        </p:txBody>
      </p:sp>
    </p:spTree>
    <p:extLst>
      <p:ext uri="{BB962C8B-B14F-4D97-AF65-F5344CB8AC3E}">
        <p14:creationId xmlns:p14="http://schemas.microsoft.com/office/powerpoint/2010/main" val="377270586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628FE-F9E5-C3B1-8567-B6E85892C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1330C9-B867-20CD-0355-359416B5FB2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local now = </a:t>
            </a:r>
            <a:r>
              <a:rPr lang="en-US" dirty="0" err="1"/>
              <a:t>os.time</a:t>
            </a:r>
            <a:r>
              <a:rPr lang="en-US" dirty="0"/>
              <a:t>()</a:t>
            </a:r>
          </a:p>
          <a:p>
            <a:r>
              <a:rPr lang="en-US" dirty="0"/>
              <a:t>local </a:t>
            </a:r>
            <a:r>
              <a:rPr lang="en-US" dirty="0" err="1"/>
              <a:t>one_day</a:t>
            </a:r>
            <a:r>
              <a:rPr lang="en-US" dirty="0"/>
              <a:t> = 60 * 60 * 24</a:t>
            </a:r>
          </a:p>
          <a:p>
            <a:r>
              <a:rPr lang="en-US" dirty="0"/>
              <a:t>local tomorrow = now + </a:t>
            </a:r>
            <a:r>
              <a:rPr lang="en-US" dirty="0" err="1"/>
              <a:t>one_day</a:t>
            </a:r>
            <a:endParaRPr lang="en-US" dirty="0"/>
          </a:p>
          <a:p>
            <a:endParaRPr lang="en-US" dirty="0"/>
          </a:p>
          <a:p>
            <a:r>
              <a:rPr lang="en-US" dirty="0"/>
              <a:t>print(</a:t>
            </a:r>
            <a:r>
              <a:rPr lang="en-US" dirty="0" err="1"/>
              <a:t>os.date</a:t>
            </a:r>
            <a:r>
              <a:rPr lang="en-US" dirty="0"/>
              <a:t>("%Y-%m-%d", tomorrow))  --&gt; Tomorrow's date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4B422D-E98F-EC14-BDB9-73557988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Date Time Manipulation</a:t>
            </a:r>
          </a:p>
        </p:txBody>
      </p:sp>
    </p:spTree>
    <p:extLst>
      <p:ext uri="{BB962C8B-B14F-4D97-AF65-F5344CB8AC3E}">
        <p14:creationId xmlns:p14="http://schemas.microsoft.com/office/powerpoint/2010/main" val="60414420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FE7E2-D40C-7518-0F3F-55FE484CE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6FA13B-172D-6804-CE95-C2F4EFA1AAB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local dt = </a:t>
            </a:r>
            <a:r>
              <a:rPr lang="en-US" dirty="0" err="1"/>
              <a:t>os.date</a:t>
            </a:r>
            <a:r>
              <a:rPr lang="en-US" dirty="0"/>
              <a:t>("*t")  -- returns a table</a:t>
            </a:r>
          </a:p>
          <a:p>
            <a:endParaRPr lang="en-US" dirty="0"/>
          </a:p>
          <a:p>
            <a:r>
              <a:rPr lang="en-US" dirty="0"/>
              <a:t>print(</a:t>
            </a:r>
            <a:r>
              <a:rPr lang="en-US" dirty="0" err="1"/>
              <a:t>dt.year</a:t>
            </a:r>
            <a:r>
              <a:rPr lang="en-US" dirty="0"/>
              <a:t>, </a:t>
            </a:r>
            <a:r>
              <a:rPr lang="en-US" dirty="0" err="1"/>
              <a:t>dt.month</a:t>
            </a:r>
            <a:r>
              <a:rPr lang="en-US" dirty="0"/>
              <a:t>, </a:t>
            </a:r>
            <a:r>
              <a:rPr lang="en-US" dirty="0" err="1"/>
              <a:t>dt.day</a:t>
            </a:r>
            <a:r>
              <a:rPr lang="en-US" dirty="0"/>
              <a:t>)</a:t>
            </a:r>
          </a:p>
          <a:p>
            <a:r>
              <a:rPr lang="en-US" dirty="0"/>
              <a:t>-- Output: 2025  6  29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592D19-9CCF-B701-62FA-E1B49912D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Date Time Manipulation</a:t>
            </a:r>
          </a:p>
        </p:txBody>
      </p:sp>
    </p:spTree>
    <p:extLst>
      <p:ext uri="{BB962C8B-B14F-4D97-AF65-F5344CB8AC3E}">
        <p14:creationId xmlns:p14="http://schemas.microsoft.com/office/powerpoint/2010/main" val="24082982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6E085-A41D-731E-F39B-0851AD14E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7617F0-0AD8-F3CA-AF73-B372F98F30E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os.execute</a:t>
            </a:r>
            <a:r>
              <a:rPr lang="en-US" dirty="0"/>
              <a:t>("sleep 1")  -- sleep for 1 second (Unix)</a:t>
            </a:r>
          </a:p>
          <a:p>
            <a:r>
              <a:rPr lang="en-US" dirty="0" err="1"/>
              <a:t>os.execute</a:t>
            </a:r>
            <a:r>
              <a:rPr lang="en-US" dirty="0"/>
              <a:t>("ping -n 2 127.0.0.1 &gt; </a:t>
            </a:r>
            <a:r>
              <a:rPr lang="en-US" dirty="0" err="1"/>
              <a:t>nul</a:t>
            </a:r>
            <a:r>
              <a:rPr lang="en-US" dirty="0"/>
              <a:t>")  -- Windows workaround for 1 second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A081D2-7554-F22B-FB26-7A49C2CF9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Date Time Manipulation</a:t>
            </a:r>
          </a:p>
        </p:txBody>
      </p:sp>
    </p:spTree>
    <p:extLst>
      <p:ext uri="{BB962C8B-B14F-4D97-AF65-F5344CB8AC3E}">
        <p14:creationId xmlns:p14="http://schemas.microsoft.com/office/powerpoint/2010/main" val="276157737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9C4180-EDAD-2161-2114-69DB942D5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899C13-AE66-FEC0-5E7A-D0D2B3731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138948"/>
              </p:ext>
            </p:extLst>
          </p:nvPr>
        </p:nvGraphicFramePr>
        <p:xfrm>
          <a:off x="457201" y="1825424"/>
          <a:ext cx="8228013" cy="39358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954274">
                  <a:extLst>
                    <a:ext uri="{9D8B030D-6E8A-4147-A177-3AD203B41FA5}">
                      <a16:colId xmlns:a16="http://schemas.microsoft.com/office/drawing/2014/main" val="2392000953"/>
                    </a:ext>
                  </a:extLst>
                </a:gridCol>
                <a:gridCol w="4273739">
                  <a:extLst>
                    <a:ext uri="{9D8B030D-6E8A-4147-A177-3AD203B41FA5}">
                      <a16:colId xmlns:a16="http://schemas.microsoft.com/office/drawing/2014/main" val="3843380566"/>
                    </a:ext>
                  </a:extLst>
                </a:gridCol>
              </a:tblGrid>
              <a:tr h="562260">
                <a:tc>
                  <a:txBody>
                    <a:bodyPr/>
                    <a:lstStyle/>
                    <a:p>
                      <a:r>
                        <a:rPr lang="en-IN" sz="2500"/>
                        <a:t>Task</a:t>
                      </a:r>
                    </a:p>
                  </a:txBody>
                  <a:tcPr marL="127786" marR="127786" marT="63893" marB="63893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Function</a:t>
                      </a:r>
                    </a:p>
                  </a:txBody>
                  <a:tcPr marL="127786" marR="127786" marT="63893" marB="63893" anchor="ctr"/>
                </a:tc>
                <a:extLst>
                  <a:ext uri="{0D108BD9-81ED-4DB2-BD59-A6C34878D82A}">
                    <a16:rowId xmlns:a16="http://schemas.microsoft.com/office/drawing/2014/main" val="89196900"/>
                  </a:ext>
                </a:extLst>
              </a:tr>
              <a:tr h="562260">
                <a:tc>
                  <a:txBody>
                    <a:bodyPr/>
                    <a:lstStyle/>
                    <a:p>
                      <a:r>
                        <a:rPr lang="en-IN" sz="2500"/>
                        <a:t>Get current time</a:t>
                      </a:r>
                    </a:p>
                  </a:txBody>
                  <a:tcPr marL="127786" marR="127786" marT="63893" marB="63893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os.date() / os.time()</a:t>
                      </a:r>
                    </a:p>
                  </a:txBody>
                  <a:tcPr marL="127786" marR="127786" marT="63893" marB="63893" anchor="ctr"/>
                </a:tc>
                <a:extLst>
                  <a:ext uri="{0D108BD9-81ED-4DB2-BD59-A6C34878D82A}">
                    <a16:rowId xmlns:a16="http://schemas.microsoft.com/office/drawing/2014/main" val="4142145854"/>
                  </a:ext>
                </a:extLst>
              </a:tr>
              <a:tr h="562260">
                <a:tc>
                  <a:txBody>
                    <a:bodyPr/>
                    <a:lstStyle/>
                    <a:p>
                      <a:r>
                        <a:rPr lang="en-IN" sz="2500"/>
                        <a:t>Format date string</a:t>
                      </a:r>
                    </a:p>
                  </a:txBody>
                  <a:tcPr marL="127786" marR="127786" marT="63893" marB="63893" anchor="ctr"/>
                </a:tc>
                <a:tc>
                  <a:txBody>
                    <a:bodyPr/>
                    <a:lstStyle/>
                    <a:p>
                      <a:r>
                        <a:rPr lang="es-ES" sz="2500"/>
                        <a:t>os.date("%Y-%m-%d")</a:t>
                      </a:r>
                    </a:p>
                  </a:txBody>
                  <a:tcPr marL="127786" marR="127786" marT="63893" marB="63893" anchor="ctr"/>
                </a:tc>
                <a:extLst>
                  <a:ext uri="{0D108BD9-81ED-4DB2-BD59-A6C34878D82A}">
                    <a16:rowId xmlns:a16="http://schemas.microsoft.com/office/drawing/2014/main" val="4051155517"/>
                  </a:ext>
                </a:extLst>
              </a:tr>
              <a:tr h="562260">
                <a:tc>
                  <a:txBody>
                    <a:bodyPr/>
                    <a:lstStyle/>
                    <a:p>
                      <a:r>
                        <a:rPr lang="en-IN" sz="2500"/>
                        <a:t>Parse date → timestamp</a:t>
                      </a:r>
                    </a:p>
                  </a:txBody>
                  <a:tcPr marL="127786" marR="127786" marT="63893" marB="63893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os.time{year=..., month=...}</a:t>
                      </a:r>
                    </a:p>
                  </a:txBody>
                  <a:tcPr marL="127786" marR="127786" marT="63893" marB="63893" anchor="ctr"/>
                </a:tc>
                <a:extLst>
                  <a:ext uri="{0D108BD9-81ED-4DB2-BD59-A6C34878D82A}">
                    <a16:rowId xmlns:a16="http://schemas.microsoft.com/office/drawing/2014/main" val="325247670"/>
                  </a:ext>
                </a:extLst>
              </a:tr>
              <a:tr h="562260">
                <a:tc>
                  <a:txBody>
                    <a:bodyPr/>
                    <a:lstStyle/>
                    <a:p>
                      <a:r>
                        <a:rPr lang="en-IN" sz="2500"/>
                        <a:t>Timestamp → date</a:t>
                      </a:r>
                    </a:p>
                  </a:txBody>
                  <a:tcPr marL="127786" marR="127786" marT="63893" marB="63893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os.date(nil, ts)</a:t>
                      </a:r>
                    </a:p>
                  </a:txBody>
                  <a:tcPr marL="127786" marR="127786" marT="63893" marB="63893" anchor="ctr"/>
                </a:tc>
                <a:extLst>
                  <a:ext uri="{0D108BD9-81ED-4DB2-BD59-A6C34878D82A}">
                    <a16:rowId xmlns:a16="http://schemas.microsoft.com/office/drawing/2014/main" val="3181395367"/>
                  </a:ext>
                </a:extLst>
              </a:tr>
              <a:tr h="562260">
                <a:tc>
                  <a:txBody>
                    <a:bodyPr/>
                    <a:lstStyle/>
                    <a:p>
                      <a:r>
                        <a:rPr lang="en-IN" sz="2500"/>
                        <a:t>Difference in seconds</a:t>
                      </a:r>
                    </a:p>
                  </a:txBody>
                  <a:tcPr marL="127786" marR="127786" marT="63893" marB="63893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os.difftime(t1, t2)</a:t>
                      </a:r>
                    </a:p>
                  </a:txBody>
                  <a:tcPr marL="127786" marR="127786" marT="63893" marB="63893" anchor="ctr"/>
                </a:tc>
                <a:extLst>
                  <a:ext uri="{0D108BD9-81ED-4DB2-BD59-A6C34878D82A}">
                    <a16:rowId xmlns:a16="http://schemas.microsoft.com/office/drawing/2014/main" val="256963412"/>
                  </a:ext>
                </a:extLst>
              </a:tr>
              <a:tr h="562260">
                <a:tc>
                  <a:txBody>
                    <a:bodyPr/>
                    <a:lstStyle/>
                    <a:p>
                      <a:r>
                        <a:rPr lang="en-IN" sz="2500"/>
                        <a:t>Add/subtract time</a:t>
                      </a:r>
                    </a:p>
                  </a:txBody>
                  <a:tcPr marL="127786" marR="127786" marT="63893" marB="63893" anchor="ctr"/>
                </a:tc>
                <a:tc>
                  <a:txBody>
                    <a:bodyPr/>
                    <a:lstStyle/>
                    <a:p>
                      <a:r>
                        <a:rPr lang="en-IN" sz="2500" dirty="0" err="1"/>
                        <a:t>os.time</a:t>
                      </a:r>
                      <a:r>
                        <a:rPr lang="en-IN" sz="2500" dirty="0"/>
                        <a:t>() ± seconds</a:t>
                      </a:r>
                    </a:p>
                  </a:txBody>
                  <a:tcPr marL="127786" marR="127786" marT="63893" marB="63893" anchor="ctr"/>
                </a:tc>
                <a:extLst>
                  <a:ext uri="{0D108BD9-81ED-4DB2-BD59-A6C34878D82A}">
                    <a16:rowId xmlns:a16="http://schemas.microsoft.com/office/drawing/2014/main" val="4055728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143273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1622F0-5845-D058-5255-7BEF752B1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Lua Database Connections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ED5810-2906-EDF9-D312-A240B82D04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532950"/>
              </p:ext>
            </p:extLst>
          </p:nvPr>
        </p:nvGraphicFramePr>
        <p:xfrm>
          <a:off x="457200" y="1735931"/>
          <a:ext cx="8228012" cy="4114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57003">
                  <a:extLst>
                    <a:ext uri="{9D8B030D-6E8A-4147-A177-3AD203B41FA5}">
                      <a16:colId xmlns:a16="http://schemas.microsoft.com/office/drawing/2014/main" val="2619283436"/>
                    </a:ext>
                  </a:extLst>
                </a:gridCol>
                <a:gridCol w="2057003">
                  <a:extLst>
                    <a:ext uri="{9D8B030D-6E8A-4147-A177-3AD203B41FA5}">
                      <a16:colId xmlns:a16="http://schemas.microsoft.com/office/drawing/2014/main" val="3035171151"/>
                    </a:ext>
                  </a:extLst>
                </a:gridCol>
                <a:gridCol w="2057003">
                  <a:extLst>
                    <a:ext uri="{9D8B030D-6E8A-4147-A177-3AD203B41FA5}">
                      <a16:colId xmlns:a16="http://schemas.microsoft.com/office/drawing/2014/main" val="3998460082"/>
                    </a:ext>
                  </a:extLst>
                </a:gridCol>
                <a:gridCol w="2057003">
                  <a:extLst>
                    <a:ext uri="{9D8B030D-6E8A-4147-A177-3AD203B41FA5}">
                      <a16:colId xmlns:a16="http://schemas.microsoft.com/office/drawing/2014/main" val="20644967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Lua Library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LuaRocks Package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217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SQLite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lsqlite3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luarocks install lsqlite3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Easiest, no server needed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7303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MySQL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luasql.mysql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luarocks install luasql-mysql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Needs MySQL client installed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9470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PostgreSQL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luasql.postgres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luarocks install luasql-postgres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Needs PostgreSQL client installed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5208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MongoDB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luamongo (C++) or 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Manual build or 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Complex to build, or use via HTTP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9245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Via Python/REST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Any DB via bridge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 os.execute or io.popen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Practical and lightweight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0523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9346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4C314C-6A31-87FD-5767-A67C2EDDF7D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https://www.sqlite.org/download.html</a:t>
            </a:r>
            <a:endParaRPr lang="en-IN" dirty="0"/>
          </a:p>
          <a:p>
            <a:endParaRPr lang="en-IN" dirty="0"/>
          </a:p>
          <a:p>
            <a:r>
              <a:rPr lang="en-IN" dirty="0"/>
              <a:t>Download sqlite-dll-win-x64-3500100.zip and</a:t>
            </a:r>
          </a:p>
          <a:p>
            <a:r>
              <a:rPr lang="en-IN" dirty="0"/>
              <a:t>sqlite-amalgamation-3500100.zip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02ECF2-171C-E5DA-0AF4-CEE08F835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Sqlite3</a:t>
            </a:r>
          </a:p>
        </p:txBody>
      </p:sp>
    </p:spTree>
    <p:extLst>
      <p:ext uri="{BB962C8B-B14F-4D97-AF65-F5344CB8AC3E}">
        <p14:creationId xmlns:p14="http://schemas.microsoft.com/office/powerpoint/2010/main" val="96905165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Lua Getting Started</a:t>
            </a:r>
          </a:p>
          <a:p>
            <a:r>
              <a:rPr lang="en-IN" dirty="0"/>
              <a:t>Numbers</a:t>
            </a:r>
          </a:p>
          <a:p>
            <a:r>
              <a:rPr lang="en-IN" dirty="0"/>
              <a:t>Strings</a:t>
            </a:r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Summary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1"/>
</p:tagLst>
</file>

<file path=ppt/theme/theme1.xml><?xml version="1.0" encoding="utf-8"?>
<a:theme xmlns:a="http://schemas.openxmlformats.org/drawingml/2006/main" name="Pencils_02_2012">
  <a:themeElements>
    <a:clrScheme name="SWF Template">
      <a:dk1>
        <a:srgbClr val="000000"/>
      </a:dk1>
      <a:lt1>
        <a:sysClr val="window" lastClr="FFFFFF"/>
      </a:lt1>
      <a:dk2>
        <a:srgbClr val="002266"/>
      </a:dk2>
      <a:lt2>
        <a:srgbClr val="BBBB00"/>
      </a:lt2>
      <a:accent1>
        <a:srgbClr val="00BBEE"/>
      </a:accent1>
      <a:accent2>
        <a:srgbClr val="FF9900"/>
      </a:accent2>
      <a:accent3>
        <a:srgbClr val="BBBB00"/>
      </a:accent3>
      <a:accent4>
        <a:srgbClr val="002266"/>
      </a:accent4>
      <a:accent5>
        <a:srgbClr val="DD4411"/>
      </a:accent5>
      <a:accent6>
        <a:srgbClr val="E1DD00"/>
      </a:accent6>
      <a:hlink>
        <a:srgbClr val="FF9900"/>
      </a:hlink>
      <a:folHlink>
        <a:srgbClr val="002266"/>
      </a:folHlink>
    </a:clrScheme>
    <a:fontScheme name="Accentur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04DE32136F4D4F8B91DE44C434FF89" ma:contentTypeVersion="0" ma:contentTypeDescription="Create a new document." ma:contentTypeScope="" ma:versionID="51781ce6f9edcc76a54a87506d8d885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69A6220E-5020-4ACE-A33D-0A412E4F47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1C72F5-E8DF-4294-BFF4-1725915F86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514F291-B47C-48A1-B199-EBD0A7B4E780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Pencils_02_2012</Template>
  <TotalTime>8472</TotalTime>
  <Words>4713</Words>
  <Application>Microsoft Office PowerPoint</Application>
  <PresentationFormat>On-screen Show (4:3)</PresentationFormat>
  <Paragraphs>859</Paragraphs>
  <Slides>111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111</vt:i4>
      </vt:variant>
    </vt:vector>
  </HeadingPairs>
  <TitlesOfParts>
    <vt:vector size="115" baseType="lpstr">
      <vt:lpstr>Arial</vt:lpstr>
      <vt:lpstr>Calibri</vt:lpstr>
      <vt:lpstr>Consolas</vt:lpstr>
      <vt:lpstr>Pencils_02_2012</vt:lpstr>
      <vt:lpstr>External Libraries</vt:lpstr>
      <vt:lpstr>Tables</vt:lpstr>
      <vt:lpstr>Table Constructor</vt:lpstr>
      <vt:lpstr>Table Constructor</vt:lpstr>
      <vt:lpstr>Table Constructor</vt:lpstr>
      <vt:lpstr>Table Indices</vt:lpstr>
      <vt:lpstr> Important Index Rules</vt:lpstr>
      <vt:lpstr>Tables</vt:lpstr>
      <vt:lpstr>Tables Iteration</vt:lpstr>
      <vt:lpstr>Tables as Arrays</vt:lpstr>
      <vt:lpstr>Table as Dictionary</vt:lpstr>
      <vt:lpstr>Tables as Objects (with functions)</vt:lpstr>
      <vt:lpstr>MetaTable</vt:lpstr>
      <vt:lpstr>Meta tables Missing Index</vt:lpstr>
      <vt:lpstr>Meta tables addition</vt:lpstr>
      <vt:lpstr>Extend to Other Operators</vt:lpstr>
      <vt:lpstr>Read-only table (__newindex)</vt:lpstr>
      <vt:lpstr>What is a Sequence in Lua?</vt:lpstr>
      <vt:lpstr>What is a Sequence in Lua?</vt:lpstr>
      <vt:lpstr>What is a Sequence in Lua?</vt:lpstr>
      <vt:lpstr>Useful Functions for Sequences (from table module)</vt:lpstr>
      <vt:lpstr>Table Sort</vt:lpstr>
      <vt:lpstr>Table Sort</vt:lpstr>
      <vt:lpstr>Table concat</vt:lpstr>
      <vt:lpstr>What Is Safe Navigation?</vt:lpstr>
      <vt:lpstr>Functions</vt:lpstr>
      <vt:lpstr>Types of functions</vt:lpstr>
      <vt:lpstr>Multiple Return</vt:lpstr>
      <vt:lpstr>Multiple Return</vt:lpstr>
      <vt:lpstr>Variadic Function</vt:lpstr>
      <vt:lpstr>Variadic Function</vt:lpstr>
      <vt:lpstr>Table.unpack</vt:lpstr>
      <vt:lpstr>Table.unpack</vt:lpstr>
      <vt:lpstr>Proper Tail Calls (PTC)</vt:lpstr>
      <vt:lpstr>Real Example: Recursive Tail Call</vt:lpstr>
      <vt:lpstr>Real Example: Recursive Tail Call</vt:lpstr>
      <vt:lpstr>Simple I/O Model (Interactive Console)</vt:lpstr>
      <vt:lpstr>Simple File Read/Write</vt:lpstr>
      <vt:lpstr>Read Text File</vt:lpstr>
      <vt:lpstr>Read XML file</vt:lpstr>
      <vt:lpstr>Summary Table</vt:lpstr>
      <vt:lpstr>System Calls</vt:lpstr>
      <vt:lpstr>Custom Date Formats with os.date(format)</vt:lpstr>
      <vt:lpstr>Custom Date Formats with os.date(format)</vt:lpstr>
      <vt:lpstr>Convert Table → String</vt:lpstr>
      <vt:lpstr>Convert String → Table</vt:lpstr>
      <vt:lpstr>os.setlocale(locale, category) — Overview</vt:lpstr>
      <vt:lpstr>os.setlocale(locale, category) — Overview</vt:lpstr>
      <vt:lpstr>Install GCC</vt:lpstr>
      <vt:lpstr>Lua Source and Binaries</vt:lpstr>
      <vt:lpstr>Call C code from Lua</vt:lpstr>
      <vt:lpstr>Call C dll from Lua</vt:lpstr>
      <vt:lpstr>Variable Scope</vt:lpstr>
      <vt:lpstr>Variable Scope</vt:lpstr>
      <vt:lpstr>Variable Scope</vt:lpstr>
      <vt:lpstr>Variable Scope</vt:lpstr>
      <vt:lpstr>Variable Scope</vt:lpstr>
      <vt:lpstr>Summary</vt:lpstr>
      <vt:lpstr>break</vt:lpstr>
      <vt:lpstr>goto</vt:lpstr>
      <vt:lpstr>Invalid goto</vt:lpstr>
      <vt:lpstr>Closures</vt:lpstr>
      <vt:lpstr>Anatomy of a Closure</vt:lpstr>
      <vt:lpstr>Anatomy of a Closure</vt:lpstr>
      <vt:lpstr>Scope Chain: Closures Capture Upvalues</vt:lpstr>
      <vt:lpstr>Scope Chain: Closures Capture Upvalues</vt:lpstr>
      <vt:lpstr>Internal Behavior (How Lua Stores It)</vt:lpstr>
      <vt:lpstr>Internal Behavior (How Lua Stores It)</vt:lpstr>
      <vt:lpstr>Internal Behavior (How Lua Stores It)</vt:lpstr>
      <vt:lpstr>Use Cases for Closures</vt:lpstr>
      <vt:lpstr>Use Cases for Closures</vt:lpstr>
      <vt:lpstr>Use Cases for Closures</vt:lpstr>
      <vt:lpstr>Use Cases for Closures</vt:lpstr>
      <vt:lpstr>Benefits of Closure Encapsulation</vt:lpstr>
      <vt:lpstr>Real-World Use Cases</vt:lpstr>
      <vt:lpstr>Functions as First-Class Values in Lua</vt:lpstr>
      <vt:lpstr>Assigning Functions to Variables</vt:lpstr>
      <vt:lpstr>Passing Functions as Arguments</vt:lpstr>
      <vt:lpstr>Returning Functions from Functions</vt:lpstr>
      <vt:lpstr>Non-Global Functions</vt:lpstr>
      <vt:lpstr>Local / Non-Global Function</vt:lpstr>
      <vt:lpstr>Summary Table</vt:lpstr>
      <vt:lpstr>String.find</vt:lpstr>
      <vt:lpstr>String.find</vt:lpstr>
      <vt:lpstr>String.find</vt:lpstr>
      <vt:lpstr>String.find</vt:lpstr>
      <vt:lpstr>Lua Pattern Character Classes</vt:lpstr>
      <vt:lpstr>String.match</vt:lpstr>
      <vt:lpstr> Inverted Match</vt:lpstr>
      <vt:lpstr>string.gsub</vt:lpstr>
      <vt:lpstr>string.gsub</vt:lpstr>
      <vt:lpstr>String.gsub</vt:lpstr>
      <vt:lpstr>String.gsub</vt:lpstr>
      <vt:lpstr>String.gsub</vt:lpstr>
      <vt:lpstr>String.gsub</vt:lpstr>
      <vt:lpstr>URL Encoding in Lua</vt:lpstr>
      <vt:lpstr>URL Encoding in Lua</vt:lpstr>
      <vt:lpstr>URL Encoding in Lua</vt:lpstr>
      <vt:lpstr>URL Decoding </vt:lpstr>
      <vt:lpstr> Tab Expansion</vt:lpstr>
      <vt:lpstr>Common Code Formats</vt:lpstr>
      <vt:lpstr>Date Time Manipulation</vt:lpstr>
      <vt:lpstr>Date Time Manipulation</vt:lpstr>
      <vt:lpstr>Date Time Manipulation</vt:lpstr>
      <vt:lpstr>Date Time Manipulation</vt:lpstr>
      <vt:lpstr>Date Time Manipulation</vt:lpstr>
      <vt:lpstr>Summary</vt:lpstr>
      <vt:lpstr>Common Lua Database Connections</vt:lpstr>
      <vt:lpstr>Sqlite3</vt:lpstr>
      <vt:lpstr>PowerPoint Presentation</vt:lpstr>
      <vt:lpstr>Module Summary</vt:lpstr>
    </vt:vector>
  </TitlesOfParts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erica.l.moeser</dc:creator>
  <dc:description/>
  <cp:lastModifiedBy>Parameswari Ettiappan</cp:lastModifiedBy>
  <cp:revision>1273</cp:revision>
  <dcterms:created xsi:type="dcterms:W3CDTF">2012-03-13T15:47:14Z</dcterms:created>
  <dcterms:modified xsi:type="dcterms:W3CDTF">2025-06-29T04:06:34Z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UseProject">
    <vt:lpwstr>1</vt:lpwstr>
  </property>
  <property fmtid="{D5CDD505-2E9C-101B-9397-08002B2CF9AE}" pid="3" name="ArticulatePath">
    <vt:lpwstr>DH_PPT_012012_LEO</vt:lpwstr>
  </property>
  <property fmtid="{D5CDD505-2E9C-101B-9397-08002B2CF9AE}" pid="4" name="ArticulateGUID">
    <vt:lpwstr>AAA9661D-BB09-40B4-9621-E5DD34F7073B</vt:lpwstr>
  </property>
  <property fmtid="{D5CDD505-2E9C-101B-9397-08002B2CF9AE}" pid="5" name="ArticulateProjectFull">
    <vt:lpwstr>F:\PROJECTS\JohnsonBeesley\Accenture\Accenture_PPT_020412_LEO.ppta</vt:lpwstr>
  </property>
  <property fmtid="{D5CDD505-2E9C-101B-9397-08002B2CF9AE}" pid="6" name="ContentTypeId">
    <vt:lpwstr>0x0101003104DE32136F4D4F8B91DE44C434FF89</vt:lpwstr>
  </property>
</Properties>
</file>